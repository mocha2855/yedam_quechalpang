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notesMasterIdLst>
    <p:notesMasterId r:id="rId2"/>
  </p:notesMasterIdLst>
  <p:sldIdLst>
    <p:sldId id="257" r:id="rId3"/>
    <p:sldId id="311" r:id="rId4"/>
    <p:sldId id="305" r:id="rId5"/>
    <p:sldId id="366" r:id="rId6"/>
    <p:sldId id="367" r:id="rId7"/>
    <p:sldId id="309" r:id="rId8"/>
    <p:sldId id="310" r:id="rId9"/>
    <p:sldId id="312" r:id="rId10"/>
    <p:sldId id="369" r:id="rId11"/>
    <p:sldId id="313" r:id="rId12"/>
    <p:sldId id="373" r:id="rId13"/>
    <p:sldId id="377" r:id="rId14"/>
    <p:sldId id="314" r:id="rId15"/>
    <p:sldId id="374" r:id="rId16"/>
    <p:sldId id="316" r:id="rId17"/>
    <p:sldId id="320" r:id="rId18"/>
    <p:sldId id="317" r:id="rId19"/>
    <p:sldId id="318" r:id="rId20"/>
    <p:sldId id="322" r:id="rId21"/>
    <p:sldId id="324" r:id="rId22"/>
    <p:sldId id="326" r:id="rId23"/>
    <p:sldId id="325" r:id="rId24"/>
    <p:sldId id="327" r:id="rId25"/>
    <p:sldId id="368" r:id="rId26"/>
    <p:sldId id="331" r:id="rId27"/>
    <p:sldId id="333" r:id="rId28"/>
    <p:sldId id="334" r:id="rId29"/>
    <p:sldId id="335" r:id="rId30"/>
    <p:sldId id="336" r:id="rId31"/>
    <p:sldId id="339" r:id="rId32"/>
    <p:sldId id="340" r:id="rId33"/>
    <p:sldId id="341" r:id="rId34"/>
    <p:sldId id="378" r:id="rId35"/>
    <p:sldId id="342" r:id="rId36"/>
    <p:sldId id="343" r:id="rId37"/>
    <p:sldId id="344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9" r:id="rId49"/>
    <p:sldId id="361" r:id="rId50"/>
    <p:sldId id="375" r:id="rId51"/>
    <p:sldId id="376" r:id="rId52"/>
    <p:sldId id="364" r:id="rId53"/>
    <p:sldId id="365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1458" y="282"/>
      </p:cViewPr>
      <p:guideLst>
        <p:guide orient="horz" pos="2158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presProps" Target="presProps.xml"  /><Relationship Id="rId56" Type="http://schemas.openxmlformats.org/officeDocument/2006/relationships/viewProps" Target="viewProps.xml"  /><Relationship Id="rId57" Type="http://schemas.openxmlformats.org/officeDocument/2006/relationships/theme" Target="theme/theme1.xml"  /><Relationship Id="rId58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6.xml"  /><Relationship Id="rId2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slide" Target="../slides/slide37.xml"  /><Relationship Id="rId2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slide" Target="../slides/slide38.xml"  /><Relationship Id="rId2" Type="http://schemas.openxmlformats.org/officeDocument/2006/relationships/notesMaster" Target="../notesMasters/notesMaster1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9.xml"  /><Relationship Id="rId2" Type="http://schemas.openxmlformats.org/officeDocument/2006/relationships/notesMaster" Target="../notesMasters/notesMaster1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slide" Target="../slides/slide40.xml"  /><Relationship Id="rId2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1.xml"  /><Relationship Id="rId2" Type="http://schemas.openxmlformats.org/officeDocument/2006/relationships/notesMaster" Target="../notesMasters/notesMaster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2.xml"  /><Relationship Id="rId2" Type="http://schemas.openxmlformats.org/officeDocument/2006/relationships/notesMaster" Target="../notesMasters/notesMaster1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3.xml"  /><Relationship Id="rId2" Type="http://schemas.openxmlformats.org/officeDocument/2006/relationships/notesMaster" Target="../notesMasters/notesMaster1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4.xml"  /><Relationship Id="rId2" Type="http://schemas.openxmlformats.org/officeDocument/2006/relationships/notesMaster" Target="../notesMasters/notesMaster1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slide" Target="../slides/slide45.xml"  /><Relationship Id="rId2" Type="http://schemas.openxmlformats.org/officeDocument/2006/relationships/notesMaster" Target="../notesMasters/notesMaster1.xml"  /></Relationships>
</file>

<file path=ppt/notesSlides/_rels/notesSlide46.xml.rels><?xml version="1.0" encoding="UTF-8" standalone="yes" ?><Relationships xmlns="http://schemas.openxmlformats.org/package/2006/relationships"><Relationship Id="rId1" Type="http://schemas.openxmlformats.org/officeDocument/2006/relationships/slide" Target="../slides/slide46.xml"  /><Relationship Id="rId2" Type="http://schemas.openxmlformats.org/officeDocument/2006/relationships/notesMaster" Target="../notesMasters/notesMaster1.xml"  /></Relationships>
</file>

<file path=ppt/notesSlides/_rels/notesSlide47.xml.rels><?xml version="1.0" encoding="UTF-8" standalone="yes" ?><Relationships xmlns="http://schemas.openxmlformats.org/package/2006/relationships"><Relationship Id="rId1" Type="http://schemas.openxmlformats.org/officeDocument/2006/relationships/slide" Target="../slides/slide47.xml"  /><Relationship Id="rId2" Type="http://schemas.openxmlformats.org/officeDocument/2006/relationships/notesMaster" Target="../notesMasters/notesMaster1.xml"  /></Relationships>
</file>

<file path=ppt/notesSlides/_rels/notesSlide48.xml.rels><?xml version="1.0" encoding="UTF-8" standalone="yes" ?><Relationships xmlns="http://schemas.openxmlformats.org/package/2006/relationships"><Relationship Id="rId1" Type="http://schemas.openxmlformats.org/officeDocument/2006/relationships/slide" Target="../slides/slide48.xml"  /><Relationship Id="rId2" Type="http://schemas.openxmlformats.org/officeDocument/2006/relationships/notesMaster" Target="../notesMasters/notesMaster1.xml"  /></Relationships>
</file>

<file path=ppt/notesSlides/_rels/notesSlide49.xml.rels><?xml version="1.0" encoding="UTF-8" standalone="yes" ?><Relationships xmlns="http://schemas.openxmlformats.org/package/2006/relationships"><Relationship Id="rId1" Type="http://schemas.openxmlformats.org/officeDocument/2006/relationships/slide" Target="../slides/slide49.xml"  /><Relationship Id="rId2" Type="http://schemas.openxmlformats.org/officeDocument/2006/relationships/notesMaster" Target="../notesMasters/notesMaster1.xml"  /></Relationships>
</file>

<file path=ppt/notesSlides/_rels/notesSlide50.xml.rels><?xml version="1.0" encoding="UTF-8" standalone="yes" ?><Relationships xmlns="http://schemas.openxmlformats.org/package/2006/relationships"><Relationship Id="rId1" Type="http://schemas.openxmlformats.org/officeDocument/2006/relationships/slide" Target="../slides/slide50.xml"  /><Relationship Id="rId2" Type="http://schemas.openxmlformats.org/officeDocument/2006/relationships/notesMaster" Target="../notesMasters/notesMaster1.xml"  /></Relationships>
</file>

<file path=ppt/notesSlides/_rels/notesSlide51.xml.rels><?xml version="1.0" encoding="UTF-8" standalone="yes" ?><Relationships xmlns="http://schemas.openxmlformats.org/package/2006/relationships"><Relationship Id="rId1" Type="http://schemas.openxmlformats.org/officeDocument/2006/relationships/slide" Target="../slides/slide51.xml"  /><Relationship Id="rId2" Type="http://schemas.openxmlformats.org/officeDocument/2006/relationships/notesMaster" Target="../notesMasters/notesMaster1.xml"  /></Relationships>
</file>

<file path=ppt/notesSlides/_rels/notesSlide5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169639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23257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747262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334659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72264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889744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70533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171418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898656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632495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928678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337153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003778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204097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08923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72339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54413"/>
      </p:ext>
    </p:extLst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07063"/>
      </p:ext>
    </p:extLst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52830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36572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93714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550773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22461"/>
      </p:ext>
    </p:extLst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65016"/>
      </p:ext>
    </p:extLst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045508"/>
      </p:ext>
    </p:extLst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17442"/>
      </p:ext>
    </p:extLst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445890"/>
      </p:ext>
    </p:extLst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5247"/>
      </p:ext>
    </p:extLst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7376"/>
      </p:ext>
    </p:extLst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39014"/>
      </p:ext>
    </p:extLst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242016"/>
      </p:ext>
    </p:extLst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02669"/>
      </p:ext>
    </p:extLst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251080"/>
      </p:ext>
    </p:extLst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466731"/>
      </p:ext>
    </p:extLst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547457"/>
      </p:ext>
    </p:extLst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42847"/>
      </p:ext>
    </p:extLst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60756"/>
      </p:ext>
    </p:extLst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8277"/>
      </p:ext>
    </p:extLst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77392"/>
      </p:ext>
    </p:extLst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922501"/>
      </p:ext>
    </p:extLst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202601"/>
      </p:ext>
    </p:extLst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725003"/>
      </p:ext>
    </p:extLst>
  </p:cSld>
  <p:clrMapOvr>
    <a:masterClrMapping/>
  </p:clrMapOvr>
</p:notes>
</file>

<file path=ppt/notesSlides/notesSlide4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792984"/>
      </p:ext>
    </p:extLst>
  </p:cSld>
  <p:clrMapOvr>
    <a:masterClrMapping/>
  </p:clrMapOvr>
</p:notes>
</file>

<file path=ppt/notesSlides/notesSlide4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836686"/>
      </p:ext>
    </p:extLst>
  </p:cSld>
  <p:clrMapOvr>
    <a:masterClrMapping/>
  </p:clrMapOvr>
</p:notes>
</file>

<file path=ppt/notesSlides/notesSlide4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386180"/>
      </p:ext>
    </p:extLst>
  </p:cSld>
  <p:clrMapOvr>
    <a:masterClrMapping/>
  </p:clrMapOvr>
</p:notes>
</file>

<file path=ppt/notesSlides/notesSlide4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22892"/>
      </p:ext>
    </p:extLst>
  </p:cSld>
  <p:clrMapOvr>
    <a:masterClrMapping/>
  </p:clrMapOvr>
</p:notes>
</file>

<file path=ppt/notesSlides/notesSlide4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29683"/>
      </p:ext>
    </p:extLst>
  </p:cSld>
  <p:clrMapOvr>
    <a:masterClrMapping/>
  </p:clrMapOvr>
</p:notes>
</file>

<file path=ppt/notesSlides/notesSlide4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1729"/>
      </p:ext>
    </p:extLst>
  </p:cSld>
  <p:clrMapOvr>
    <a:masterClrMapping/>
  </p:clrMapOvr>
</p:notes>
</file>

<file path=ppt/notesSlides/notesSlide4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51234"/>
      </p:ext>
    </p:extLst>
  </p:cSld>
  <p:clrMapOvr>
    <a:masterClrMapping/>
  </p:clrMapOvr>
</p:notes>
</file>

<file path=ppt/notesSlides/notesSlide5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511032"/>
      </p:ext>
    </p:extLst>
  </p:cSld>
  <p:clrMapOvr>
    <a:masterClrMapping/>
  </p:clrMapOvr>
</p:notes>
</file>

<file path=ppt/notesSlides/notesSlide5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805669"/>
      </p:ext>
    </p:extLst>
  </p:cSld>
  <p:clrMapOvr>
    <a:masterClrMapping/>
  </p:clrMapOvr>
</p:notes>
</file>

<file path=ppt/notesSlides/notesSlide5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65002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7631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96723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484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4368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84457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4562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0526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265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28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8570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4550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8873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3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5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0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1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2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3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4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5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6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7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8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9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0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1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2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3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4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5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6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7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8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9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0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1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2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회원가입 양식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사이트 이용자의 회원가입에 필요한 양식들을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가입할 회원 유형을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 시 색상이 변함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 입력 후 클릭 시 입력한 아이디가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존재하는지 확인 후 알림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없는 아이디라면 해당 아이디를 이후에 수정할 수 없도록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 입력 후 인증 버튼을 누르면 입력한 이메일이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존재하는지 확인 후 존재한다면 알림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4-2.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없는 이메일이라면 해당 아이디를 이후에 수정할 수 없도록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 입력 후 인증버튼을 누르면 이름과 연락처가 맞는지 확인 후 인증문자를 발송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인증번호를 입력 후 확인버튼을 누르면 실패시에만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이 모달로 팝업된다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주소검색버튼을 누르면 별도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주소를 검색하여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기관목록을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선택이 가능하며 직접 입력도 가능함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회원가입 누르면 정상적으로 입력이 모두 완료된 경우 회원가입이 완료되며 가입신청 목록에 추가됨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취소를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그림 13" descr="텍스트, 스크린샷, 번호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6384" y="1043492"/>
            <a:ext cx="4169270" cy="538435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46384" y="10910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9" name="직사각형 8"/>
          <p:cNvSpPr/>
          <p:nvPr/>
        </p:nvSpPr>
        <p:spPr>
          <a:xfrm>
            <a:off x="2493002" y="132421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4897308" y="183590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4907468" y="342163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897307" y="378230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5" name="직사각형 14"/>
          <p:cNvSpPr/>
          <p:nvPr/>
        </p:nvSpPr>
        <p:spPr>
          <a:xfrm>
            <a:off x="4897307" y="4375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8" name="직사각형 17"/>
          <p:cNvSpPr/>
          <p:nvPr/>
        </p:nvSpPr>
        <p:spPr>
          <a:xfrm>
            <a:off x="3100936" y="496482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9" name="직사각형 18"/>
          <p:cNvSpPr/>
          <p:nvPr/>
        </p:nvSpPr>
        <p:spPr>
          <a:xfrm>
            <a:off x="2582588" y="55337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100055"/>
          <a:ext cx="11992920" cy="6634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933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U-001-1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인증번호 불일치 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인증번호가 일치하지 않았을 경우 생성되는 모달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확인버튼을 누르면 사라짐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명함, 스크린샷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150" t="18780" r="29520" b="22870"/>
          <a:stretch>
            <a:fillRect/>
          </a:stretch>
        </p:blipFill>
        <p:spPr>
          <a:xfrm>
            <a:off x="1774142" y="1428889"/>
            <a:ext cx="5039591" cy="400022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74142" y="133003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13" name="직사각형 12"/>
          <p:cNvSpPr/>
          <p:nvPr/>
        </p:nvSpPr>
        <p:spPr>
          <a:xfrm>
            <a:off x="3430222" y="428659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양식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버튼을 클릭하면 입력한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패스워드로 로그인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아이디가 존재하지 않거나 비밀번호가 맞지 않는 경우 각 상황에 맞는 알림이 팝업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 찾기 및 비밀번호 찾기 클릭 시 각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클릭 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해당 아이디 존재여부를 확인하고 존재한다면 비밀번호 일치여부까지 확인 후 로그인이 처리되며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/>
                        <a:t>UM-001(</a:t>
                      </a:r>
                      <a:r>
                        <a:rPr lang="ko-KR" altLang="en-US" sz="1000"/>
                        <a:t>메인페이지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회원가입 버튼 클릭 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/>
                        <a:t>U-001 </a:t>
                      </a:r>
                      <a:r>
                        <a:rPr lang="ko-KR" altLang="en-US" sz="1000"/>
                        <a:t>로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250" t="21620" r="32750" b="28140"/>
          <a:stretch>
            <a:fillRect/>
          </a:stretch>
        </p:blipFill>
        <p:spPr>
          <a:xfrm>
            <a:off x="1625600" y="1568981"/>
            <a:ext cx="4958080" cy="368594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536013" y="15689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196413" y="3330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3242893" y="33130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4260746" y="331309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2186252" y="389221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찾기 페이지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이름과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 입력 후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U-003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스크린샷, 텍스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800" r="29750" b="23540"/>
          <a:stretch>
            <a:fillRect/>
          </a:stretch>
        </p:blipFill>
        <p:spPr>
          <a:xfrm>
            <a:off x="1351280" y="1270000"/>
            <a:ext cx="4968240" cy="395224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521533" y="21261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4797373" y="271546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866973" y="409722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찾기에 성공한 경우 표기되는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URQ-0003-1-1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인증이 성공하면 찾은 아이디를 표시한다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 descr="텍스트, 명함, 로고, 스크린샷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420" t="18620" r="29920" b="24110"/>
          <a:stretch>
            <a:fillRect/>
          </a:stretch>
        </p:blipFill>
        <p:spPr>
          <a:xfrm>
            <a:off x="1466909" y="1549623"/>
            <a:ext cx="4958080" cy="3925388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3047008" y="444201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24" name="직사각형 23"/>
          <p:cNvSpPr/>
          <p:nvPr/>
        </p:nvSpPr>
        <p:spPr>
          <a:xfrm>
            <a:off x="1377322" y="145076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연락처가 일치하지 않는 경우 인증이 진행되지 않으며 일치하는 경우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U-004-1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80" t="18650" r="29750" b="24080"/>
          <a:stretch>
            <a:fillRect/>
          </a:stretch>
        </p:blipFill>
        <p:spPr>
          <a:xfrm>
            <a:off x="1934321" y="1466306"/>
            <a:ext cx="4958080" cy="392538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4734" y="23936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6" name="직사각형 5"/>
          <p:cNvSpPr/>
          <p:nvPr/>
        </p:nvSpPr>
        <p:spPr>
          <a:xfrm>
            <a:off x="5339774" y="29219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0974" y="4324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r>
                        <a:rPr lang="en-US" altLang="ko-KR" sz="1000"/>
                        <a:t>-2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재설정할 비밀번호를 입력하고 비밀번호 확인에도 동일한 비밀번호를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 누르면 비밀번호와 비밀번호 확인의 값이 일치하면 변경이 완료되며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330" t="18800" r="30000" b="23930"/>
          <a:stretch>
            <a:fillRect/>
          </a:stretch>
        </p:blipFill>
        <p:spPr>
          <a:xfrm>
            <a:off x="1666240" y="1361440"/>
            <a:ext cx="4958080" cy="392538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4734" y="25764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204320" y="42325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페이지와 모달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가입승인이 아직 미처리된 경우 출력되는 페이지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로그인페이지 버튼을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회원탈퇴버튼을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누르면 해당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예를 누르면 탈퇴처리가 되며 계정이 삭제되며 아니오를 누르면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폰트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5330" t="6640" r="2500" b="22900"/>
          <a:stretch>
            <a:fillRect/>
          </a:stretch>
        </p:blipFill>
        <p:spPr>
          <a:xfrm>
            <a:off x="213360" y="1869440"/>
            <a:ext cx="8400282" cy="361042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3773" y="17705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76653" y="4473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939946" y="44731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5693306" y="19682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5878039" y="37869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후 처음 이동하는 페이지이자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작성된 지원신청서 중 관리자의 계획승인 이전 단계인 신청서의 갯수를 출력하며 누르면 </a:t>
                      </a:r>
                      <a:r>
                        <a:rPr lang="en-US" altLang="ko-KR" sz="1000"/>
                        <a:t>UM-001-1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작성된 지원신청서 중 관리자의 승인을 받은 이후 단계인 신청서의 갯수를 출력하며 누르면 </a:t>
                      </a:r>
                      <a:r>
                        <a:rPr lang="en-US" altLang="ko-KR" sz="1000"/>
                        <a:t>UM-001-1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페이지인 </a:t>
                      </a:r>
                      <a:r>
                        <a:rPr lang="en-US" altLang="ko-KR" sz="1000"/>
                        <a:t>UM-003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마이페이지의 </a:t>
                      </a:r>
                      <a:r>
                        <a:rPr lang="en-US" altLang="ko-KR" sz="1000"/>
                        <a:t>UM-002-1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문의페이지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8" name="그룹 17"/>
          <p:cNvGrpSpPr/>
          <p:nvPr/>
        </p:nvGrpSpPr>
        <p:grpSpPr>
          <a:xfrm rot="0">
            <a:off x="432315" y="1236278"/>
            <a:ext cx="7864764" cy="4934495"/>
            <a:chOff x="432315" y="1236278"/>
            <a:chExt cx="7864764" cy="4934495"/>
          </a:xfrm>
        </p:grpSpPr>
        <p:pic>
          <p:nvPicPr>
            <p:cNvPr id="17" name="그림 16" descr="텍스트, 스크린샷, 디스플레이, 폰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32315" y="1236278"/>
              <a:ext cx="7864764" cy="4934495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818292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1</a:t>
              </a:r>
              <a:endParaRPr lang="ko-KR" altLang="en-US" sz="1000" b="1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3492" y="2630746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2</a:t>
              </a:r>
              <a:endParaRPr lang="ko-KR" altLang="en-US" sz="1000" b="1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504508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3</a:t>
              </a:r>
              <a:endParaRPr lang="ko-KR" altLang="en-US" sz="1000" b="1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497902" y="3505819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4</a:t>
              </a:r>
              <a:endParaRPr lang="ko-KR" altLang="en-US" sz="1000" b="1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18292" y="4620244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5</a:t>
              </a:r>
              <a:endParaRPr lang="ko-KR" altLang="en-US" sz="1000" b="1"/>
            </a:p>
          </p:txBody>
        </p:sp>
      </p:grp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일반회원인 보호자가 로그인 후 처음 이동하는 페이지이자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지원자에 대한 지원신청 현황에 대한 정보를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현황만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마이페이지를 누르면 </a:t>
                      </a:r>
                      <a:r>
                        <a:rPr lang="en-US" altLang="ko-KR" sz="1000"/>
                        <a:t>UM-002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로그아웃을 누르면 로그아웃이 되며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지원신청을 누르면 </a:t>
                      </a:r>
                      <a:r>
                        <a:rPr lang="en-US" altLang="ko-KR" sz="1000"/>
                        <a:t>UM-002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소프트웨어, 디스플레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t="-20" r="10250"/>
          <a:stretch>
            <a:fillRect/>
          </a:stretch>
        </p:blipFill>
        <p:spPr>
          <a:xfrm>
            <a:off x="188372" y="1036320"/>
            <a:ext cx="8376504" cy="524861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69934" y="172579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6955214" y="1387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2322254" y="1347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가로 글상자 9"/>
          <p:cNvSpPr txBox="1"/>
          <p:nvPr/>
        </p:nvSpPr>
        <p:spPr>
          <a:xfrm>
            <a:off x="2938462" y="14382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문의하기 목록페이지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문의하기를 누르면 나오는 첫 화면이자 문의 목록을 출력하는 페이지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 내역을 각 항목별로 목록으로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문의만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목록을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drop-down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처럼 아래 질문내용과 답변이 존재하는 경우에는 답변이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질문에 대한 답변이 존재하지 않는 경우 수정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삭제가 가능하며 답변이 존재하는경우에는 불가하며 수정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삭제 버튼도 보이지 않는다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글쓰기를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QNA-002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문의하기에 대한 답변등록이 가능하고 해당 페이지와 똑같은 레이아웃 페이지를 사용한다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8873" y="1109349"/>
            <a:ext cx="8365242" cy="51561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59659" y="195906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7756598" y="555094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2588698" y="263242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지원신청을 누르면 나오는 지원신청 현황페이지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문의작성을 위한 항목들을 입력할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등록일자는 작성하는 당일로 고정된다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등록을 누르면 질문이 등록되며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이동하며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취소를 누르면 질문등록이 되지 않으며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1" name="그림 10" descr="텍스트, 스크린샷, 소프트웨어, 디스플레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101" y="1082675"/>
            <a:ext cx="8343393" cy="523079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22344" y="19993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7232541" y="56764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가입정보를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 정보 수정을 누르면 </a:t>
                      </a:r>
                      <a:r>
                        <a:rPr lang="en-US" altLang="ko-KR" sz="1000"/>
                        <a:t>UM-002-2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모달로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기존에 등록되어있는 지원자의 이름이 목록으로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선택된 지원자인 경우 진한 색으로 강조되어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등록을 누르면 우측의 비어있던 공간에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등록할 지원자의 정보를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통해서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장애유형은 기본적으로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장애유형을 선택할 수 있으며 해당사항이 없으면 직접입력을 선택하면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의 우측에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 생성되어 직접 입력할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등록을 누르면 등록이 완료되며 취소를 누르면 기존 입력된 정보가 모두 사라지며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번이 존재하던 공간은 다시 빈공간이 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지원자 목록에서 해당 지원자를 클릭하면 오른쪽 화면에 지원자 정보수정 버튼이 출력된다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이름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생년월일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성별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주소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장애유형을 수정할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" name="그림 14" descr="텍스트, 스크린샷, 소프트웨어, 컴퓨터 아이콘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1139659"/>
            <a:ext cx="8320492" cy="488522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0254" y="2098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79840" y="52790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1883520" y="24444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1995492" y="52790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3489012" y="20989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5919105" y="310481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142849" y="36534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3" name="직사각형 12"/>
          <p:cNvSpPr/>
          <p:nvPr/>
        </p:nvSpPr>
        <p:spPr>
          <a:xfrm>
            <a:off x="6814929" y="44357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  <p:sp>
        <p:nvSpPr>
          <p:cNvPr id="16" name="가로 글상자 15"/>
          <p:cNvSpPr txBox="1"/>
          <p:nvPr/>
        </p:nvSpPr>
        <p:spPr>
          <a:xfrm>
            <a:off x="2938462" y="14763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회원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URQ-0002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가입요청 관리 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수정 모달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시스템관리자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1-1. </a:t>
                      </a:r>
                      <a:r>
                        <a:rPr lang="ko-KR" altLang="en-US" sz="1000"/>
                        <a:t>회원정보 수정을 할 수 있는 모달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수정할 회원의 정보가 채워진 상태로 모달이 나타나며 수정이 불가능한 요소는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수정한 아이디를 입력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해당 아이디의 존재여부를 확인 후 결과에 따라 알림을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활용하여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수정사항 모두 입력 후 수정버튼 누르면 수정이 완료됨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취소버튼을 누르면 수정되지 않으며 모달이 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080" t="3680" r="29660" b="9850"/>
          <a:stretch>
            <a:fillRect/>
          </a:stretch>
        </p:blipFill>
        <p:spPr>
          <a:xfrm>
            <a:off x="2001520" y="894080"/>
            <a:ext cx="4667739" cy="55007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911933" y="8382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5183453" y="17932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5183453" y="441452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2755213" y="55016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 신청할 지원자의 간략한 정보를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기존 등록된 지원자 중 선택할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조사지를 불러오며 신청자가 해당사항을 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아니오 중에서 체크할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/>
                        <a:t>UM-002-1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 지원신청서가 기관관리자에게 전달되어 담당자 배정을 받을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임시저장을 누르면 입력된 값이 제출되지 않고 저장만 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4500" t="-20" r="5580"/>
          <a:stretch>
            <a:fillRect/>
          </a:stretch>
        </p:blipFill>
        <p:spPr>
          <a:xfrm>
            <a:off x="213360" y="1036319"/>
            <a:ext cx="8314721" cy="520024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1214" y="17332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214" y="30133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332414" y="5451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가로 글상자 8"/>
          <p:cNvSpPr txBox="1"/>
          <p:nvPr/>
        </p:nvSpPr>
        <p:spPr>
          <a:xfrm>
            <a:off x="3081337" y="13620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작성완료 모달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확인을 누르면 해당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50949" y="1905281"/>
            <a:ext cx="4420216" cy="353426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02414" y="4384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제출한 지원신청서 내용을 조회할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 후 담당자 배정이 완료된 경우 상담신청 버튼이 생성되며 해당 버튼을 누르면 </a:t>
                      </a: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번호, 소프트웨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4420" t="-20" r="5500"/>
          <a:stretch>
            <a:fillRect/>
          </a:stretch>
        </p:blipFill>
        <p:spPr>
          <a:xfrm>
            <a:off x="183428" y="1160499"/>
            <a:ext cx="8391612" cy="523862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1374" y="25275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19614" y="559864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가로 글상자 7"/>
          <p:cNvSpPr txBox="1"/>
          <p:nvPr/>
        </p:nvSpPr>
        <p:spPr>
          <a:xfrm>
            <a:off x="3100386" y="1485900"/>
            <a:ext cx="877253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상담신청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상담신청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배정된 담당자의 이름을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담당자에게 상담신청하며 전달할 요청사항을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URQ-0101-2-2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모달로 교체되며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취소를 누르면 해당 내용이 저장되지 않고 모달은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계정에 등록된 연락처를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확인버튼을 누르면 해당 모달은 사라진다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650" r="29830" b="23990"/>
          <a:stretch>
            <a:fillRect/>
          </a:stretch>
        </p:blipFill>
        <p:spPr>
          <a:xfrm>
            <a:off x="236854" y="745674"/>
            <a:ext cx="4153353" cy="329374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72854" y="1341601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744279" y="1699403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865724" y="3263382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pic>
        <p:nvPicPr>
          <p:cNvPr id="9" name="그림 8" descr="텍스트, 스크린샷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66170" y="3194509"/>
            <a:ext cx="3966344" cy="314273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795017" y="4501824"/>
            <a:ext cx="135918" cy="1499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en-US" altLang="ko-KR" sz="1000" b="1"/>
          </a:p>
        </p:txBody>
      </p:sp>
      <p:sp>
        <p:nvSpPr>
          <p:cNvPr id="11" name="직사각형 10"/>
          <p:cNvSpPr/>
          <p:nvPr/>
        </p:nvSpPr>
        <p:spPr>
          <a:xfrm>
            <a:off x="5475590" y="5615445"/>
            <a:ext cx="135918" cy="1499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en-US" altLang="ko-KR" sz="1000" b="1"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담당하는 지원자에 대한 진행상황 등 여러가지 정보 확인 및 상세검색 가능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메인버튼을 누르면 로그인 후 첫 화면으로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시 읽지 않은 알림내역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Dv-002]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로그아웃하면서 홈으로 이동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 지원자들의 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각종 지원서에 대한 처리 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및 내용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 작성한 신청서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내가 작성한 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클릭시 담당자가 작성한 신청서 목록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지원신청서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단계에 따라 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가각의 해당 건수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지원계획서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상담내역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지원결과서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현황의 사용자가 입력한 작성일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진행상황에 따라 상세 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버튼 누르면 입력한 내용에 해당하는 지원신청현황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지원신청현황이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개 초과시 페이지네이션으로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지원신청 현황에서 내가 작성한 신청서와 담당자가 작성한 신청서를 나눠서 볼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담당자가 작성한 신청서도 출력화면은 똑같은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UI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사용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0861" y="1018824"/>
            <a:ext cx="8243896" cy="4820351"/>
          </a:xfrm>
          <a:prstGeom prst="rect">
            <a:avLst/>
          </a:prstGeom>
        </p:spPr>
      </p:pic>
      <p:sp>
        <p:nvSpPr>
          <p:cNvPr id="31" name="가로 글상자 30"/>
          <p:cNvSpPr txBox="1"/>
          <p:nvPr/>
        </p:nvSpPr>
        <p:spPr>
          <a:xfrm>
            <a:off x="2947988" y="13239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알림내역 표시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진행상황에 업데이트가 생기면 이름 옆의 벨 아이콘에서 진행상황을 확인할 수 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4360" y="862624"/>
            <a:ext cx="4867954" cy="3010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상담내역 화면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임시저장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취소 버튼에 대한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9679" y="667031"/>
            <a:ext cx="8335485" cy="56800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담당자와 지원자 간의 상담의 예약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및 예약 내역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상담일지 작성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클릭시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또는 보호자와 담당자간의 전화를 통해 정한 상담 시간을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임시저장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639" y="732012"/>
            <a:ext cx="8383943" cy="5151107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선택시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지원자의 대기단계 선택하는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기관관리자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수정이력을 모달창에서 확인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작성 또는 수정 작업시 버튼 누르면 모달창으로 재확인 후 저장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선택시 색상 변경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선택 후 버튼 누르면 모달창으로 재확인 후 승인요청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대기단계 승인을 요청하면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지원신청서의 해당 화면에는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관리자의 대기단계 승인 검토중입니다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출력되고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관리자의 승인 후에는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홍영희 지원자의 대기 단계는 중점입니다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바뀌어 출력된다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273" y="765064"/>
            <a:ext cx="8406309" cy="53659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3" y="10953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수정이력 버튼을 누르면 뜨는 수정이력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 클릭으로 수정이력 모달창으로 지원신청서의 수정이력을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승인요청 및 취소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지원계획서가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지원자에대한 지원계획을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2928938" y="10572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 후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승인된 글을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2919413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반려시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지원계획서의 수정 버튼 누르면 해당 글이 우측에 나타나며 수정할수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수정화면에서 원래 데이터가 표시되어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로딩되고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원본글을 유지한 상태에서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요청시 재확인 모달창으로 확인 후 검토중으로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Dv-007,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819" y="897111"/>
            <a:ext cx="7857028" cy="54907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2" y="11144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지원결과서가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지원계획에 대한 지원결과을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파일첨부 버튼을 눌러 다중파일 첨부가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폼 작성 완료 후 승인요청 버튼을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지원결과서가 승인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반려되면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에서 목록을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반려된 지원결과서의 경우 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수정버튼을 눌러 오른쪽에서 수정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재승인요청이 가능하다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8195" y="1063206"/>
            <a:ext cx="8266642" cy="521842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29540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내정보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정보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표현하는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기관 담당자의 정보가 나타난다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내정보수정 버튼을 누르면 모달창을 통해 담당자의 정보를 수정한다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: Dv-19]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본인이 담당하는 지원자의 목록을 표시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이름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생년월일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성별을 라디오버튼으로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주소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장애 유형 선택</a:t>
                      </a:r>
                      <a:br>
                        <a:rPr lang="en-US" altLang="ko-KR" sz="1000">
                          <a:solidFill>
                            <a:schemeClr val="dk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선택 내역 중 없으면 기타 선택 후 직접 입력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모달창으로 재확인 후 통해 담당자의 정보를 등록 또는 입력값 초기화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707" y="1114556"/>
            <a:ext cx="8363938" cy="4914636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071813" y="1466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본인정보수정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본인의 정보 수정 버튼 누를 시 나오는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탈퇴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수정 또는 취소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정보 수정 및 탈퇴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선택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검색어를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박스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검색어를 통해 필터된 항목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제목을 누를 경우 하부에 질문 및 답변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지원자가 작성한 질문에 대한 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 버튼을 누르면 작성한 답변이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답변등록이 됐을 경우 답변완료로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답변수정을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나와 답변등록 버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    튼이 생깁니다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삭제버튼을 누르면 작성한 답변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590" y="825412"/>
            <a:ext cx="8193759" cy="5498756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3062288" y="1047750"/>
            <a:ext cx="723900" cy="333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3024187" y="1085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후 메인 화면에서 센터의 모든 지원자들의 신청현황을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 보기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이동해 해당 지원자의 지원신청서를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기관담당자 미배정 지원자의 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모달창으로 담당자 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이름을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담당자 변경이나 담당자 추가배정이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제출한 지원자의 대기단계를 대기단계승인 버튼을 눌러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담당자는 배정되었으나 담당자가 아직 대기단계 제출을 하지 않은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담당자가 지원계획서를 제출한 시점에서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대기단계가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지원결과의 경우도 동일하게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지원계획을 승인한 시점에서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해당 지원자의 원래 대기단계인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 보기버튼을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Cdv-007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사이드바에서 상세검색이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630" y="866347"/>
            <a:ext cx="8273412" cy="519812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3776661" y="12953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메인화면에 따른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357" y="1093752"/>
            <a:ext cx="8264532" cy="5175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지원신청서를 관리하는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제출한 지원자의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탭에서 지원신청서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상담내역을 선택해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누가 수정했는지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지원자의 지원신청서의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기관관리자가 승인해야 할 계획서나 결과서가 있다면 이 섹션에서 확인 가능하며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승인과 반려를 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032" y="952070"/>
            <a:ext cx="8049603" cy="5083131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3843336" y="1304924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지원계획서 관리페이지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목록을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계획서의 작성일과 승인일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반려일이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승인이 필요한 지원계획서 목록이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승인버튼을 누르면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967" y="961597"/>
            <a:ext cx="8261220" cy="520150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31444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반려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반려사유를 입력하고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최종 반려가 제출된다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지원계획서가 승인된다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7573" y="1068700"/>
            <a:ext cx="8220191" cy="515673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지원결과서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지원결과서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된 지원결과서 목록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승인해야 할 지원결과 목록이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승인과 반려는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같다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541" y="1109233"/>
            <a:ext cx="8244612" cy="51729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4477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상담내역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상담내역 확인 테이블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작성한 상담내역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700" y="1090165"/>
            <a:ext cx="8247330" cy="518249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담당자관리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담당자관리 버튼으로 관리페이지에 진입한다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 검색박스에서 담당자명을 드롭박스에서 선택하거나 담당자명을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센터이름과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센터에 소속된 담당자 정보를 한번에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변동이 있는 담당자를 체크박스로 다중선택한다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사용 승인이 필요한 담당자를 한번에 승인하거나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퇴직한 담당자의 정보를 한번에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승인여부가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정보수정은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회원관리 탭은 같은 디자인을 공유한다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기능도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좌측 사이드바에서 회원검색을 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050" y="1204465"/>
            <a:ext cx="7992899" cy="50226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Cdv-009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클릭하면 나타나는 모달창에서 해당 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최종적인 수정이 이루어진다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선택된 담당자를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5089" y="1137592"/>
            <a:ext cx="8078342" cy="51003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본인 정보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기관정보 수정을 할 수 있는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 나의 정보가 표시되고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내정보 수정 버튼을 누르면 연락처와 이메일만 수정이 가능하도록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전환되어 나의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기관의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기관명과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전화번호 수정이 가능하며 기관 담당자 수는 자동으로 업데이트되어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3625" y="1080640"/>
            <a:ext cx="8074861" cy="507411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기관명을 셀렉트 드롭 다운 선택을 통해 기관을 선택 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선택삭제를 통해 원하고자는 하는 기관만 선택하여 삭제가능하다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않게하게 깔끔하게 정리한다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수정을 통해 기관의 운영을 종료시킨다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02" y="1320195"/>
            <a:ext cx="8259203" cy="46092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/>
                        <a:t>Sdv-001</a:t>
                      </a:r>
                      <a:r>
                        <a:rPr lang="ko-KR" altLang="en-US" sz="1000"/>
                        <a:t>에 만들어둔 등록 버튼을 클릭하면 기관 등록 모달창이 발생한다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운영여부 기본값은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운영</a:t>
                      </a:r>
                      <a:r>
                        <a:rPr lang="en-US" altLang="ko-KR" sz="1000"/>
                        <a:t>’ </a:t>
                      </a:r>
                      <a:r>
                        <a:rPr lang="ko-KR" altLang="en-US" sz="1000"/>
                        <a:t>으로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기관 운영 종료 시 운영여부를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종료</a:t>
                      </a:r>
                      <a:r>
                        <a:rPr lang="en-US" altLang="ko-KR" sz="1000"/>
                        <a:t>’</a:t>
                      </a:r>
                      <a:r>
                        <a:rPr lang="ko-KR" altLang="en-US" sz="1000"/>
                        <a:t>로 바꾼 후 등록한다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상세검색에서 기관 셀렉트를 통해 기관을 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이렇게하면 미승인된 것을 한번에 승인 가능하게 하기 위해서다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미승인된 기관 관리자를 사용 승인을 눌러 대기에서 승인 상태로 변경해준다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똑같은 화면에서 일괄 사용승인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일괄 삭제가 가능하다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344" y="1258626"/>
            <a:ext cx="8304969" cy="470854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담당자 등록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기관 관리자 등록 버튼을 누르면 기관 관리자 등록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등록창과 수정창은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수정의 경우 비밀번호 이중확인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들어간다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 신청 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 검색창에 지원자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 검색창에 담당자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 검색창에 보호자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단계를 선택하여 필요한 단계만 필터링한다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시스템관리자는 지원신청 현황을 한번에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9921" y="1391042"/>
            <a:ext cx="8072567" cy="449128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7014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질문을 전체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질문이 보이는 곳이다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지원서 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지원서항목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세부항목을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세부항목을 입력해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 추가 버튼을 이용하여 조사지 질문지에 메인 질문을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메인 질문도 수정 버튼을 눌러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모든 조사지 항목 수정내역을 저장하여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7521" y="1253585"/>
            <a:ext cx="8196577" cy="457415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Sdv-007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수정 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지원항목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세부항목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있는 지원서 항목 수정 버튼을 누르면 수정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모달창도 지원서 항목 수정 모달창과 같은 형식이다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4436" y="1354384"/>
            <a:ext cx="8040222" cy="436305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등록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질문 등록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/>
                        <a:t>에 있는 조사지 질문 등록 버튼을 누르면 조사지 질문 등록 모달창이 뜬다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질문을 입력할 수 있는 텍스트 창이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 유형은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o/x,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사유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형식으로 골라서 등록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조사지 질문 수정도 등록과 같은 형식을 이용한다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440" y="1183409"/>
            <a:ext cx="8095175" cy="467063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수정 이력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수정 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수정 내역을 누르면 조사지 수정이력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수정이력은 수정날짜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수정부분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형태로 저장되어 수정 된 곳을 직관적이게 보게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4885" y="1235009"/>
            <a:ext cx="8221149" cy="4741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85</ep:Words>
  <ep:PresentationFormat>와이드스크린</ep:PresentationFormat>
  <ep:Paragraphs>81</ep:Paragraphs>
  <ep:Slides>52</ep:Slides>
  <ep:Notes>52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ep:HeadingPairs>
  <ep:TitlesOfParts>
    <vt:vector size="53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2025-12-17T05:34:23.482</dcterms:modified>
  <cp:revision>130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