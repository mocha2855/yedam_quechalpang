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7" r:id="rId2"/>
    <p:sldId id="306" r:id="rId3"/>
    <p:sldId id="307" r:id="rId4"/>
    <p:sldId id="305" r:id="rId5"/>
    <p:sldId id="308" r:id="rId6"/>
    <p:sldId id="273" r:id="rId7"/>
    <p:sldId id="258" r:id="rId8"/>
    <p:sldId id="259" r:id="rId9"/>
    <p:sldId id="261" r:id="rId10"/>
    <p:sldId id="274" r:id="rId11"/>
    <p:sldId id="262" r:id="rId12"/>
    <p:sldId id="263" r:id="rId13"/>
    <p:sldId id="264" r:id="rId14"/>
    <p:sldId id="285" r:id="rId15"/>
    <p:sldId id="294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65" r:id="rId32"/>
    <p:sldId id="266" r:id="rId33"/>
    <p:sldId id="267" r:id="rId34"/>
    <p:sldId id="268" r:id="rId35"/>
    <p:sldId id="275" r:id="rId36"/>
    <p:sldId id="269" r:id="rId37"/>
    <p:sldId id="270" r:id="rId38"/>
    <p:sldId id="271" r:id="rId39"/>
    <p:sldId id="272" r:id="rId40"/>
    <p:sldId id="302" r:id="rId41"/>
    <p:sldId id="303" r:id="rId42"/>
    <p:sldId id="304" r:id="rId4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B69A2A-3BEA-4864-8371-D8F043C103AD}" v="531" dt="2022-03-18T08:28:55.8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90" autoAdjust="0"/>
  </p:normalViewPr>
  <p:slideViewPr>
    <p:cSldViewPr snapToGrid="0">
      <p:cViewPr varScale="1">
        <p:scale>
          <a:sx n="96" d="100"/>
          <a:sy n="96" d="100"/>
        </p:scale>
        <p:origin x="1116" y="3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6669B-97A9-4B46-89EC-CD5A079D3158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F523B0-649E-4BCC-BAB9-C797E5D00F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31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189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8F1CA-0BAF-A5D2-81E6-C4BA25311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0F63EE-C330-78DE-75C9-3440A0A0C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438E7F-D973-F41A-5022-D06A07C73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973317-5185-BD7A-282F-29D110176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955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80735-61C0-2A28-AEEE-CF16D112F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CFF520-0BDE-BDB0-5CA6-5E21B72E4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830EE6-FBF7-8BB5-15CA-275DBC9AA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751A0B-27B1-A59C-C1D8-2349E740E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80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79F35-CA97-88BF-F660-25498FC5A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5D38D6-D54B-6AF6-B352-27D49D562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525D9-6DBE-9024-40D4-334657BCD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4C7BA8-FAE3-B38F-0596-951B3EE241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014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7ACFD-F75B-2E3A-E61F-F233F82E7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E3BE19-A33A-212D-D31E-DA6636EBF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1CB331-8511-706D-69C6-1D6DAB9E6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C551CE-4132-6C91-6C87-4354F7CA0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289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260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4879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956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550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8333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4631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7040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7134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985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1897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2995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7148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7070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8833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2162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59933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0017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189724"/>
      </p:ext>
    </p:extLst>
  </p:cSld>
  <p:clrMapOvr>
    <a:masterClrMapping/>
  </p:clrMapOvr>
</p:notes>
</file>

<file path=ppt/notesSlides/notesSlide24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슬라이드 이미지 개체 틀 1"/>
              <p:cNvSpPr>
                <a:spLocks noGrp="1" noRot="1" noChangeAspect="1"/>
              </p:cNvSpPr>
              <p:nvPr>
                <p:ph type="sldImg"/>
              </p:nvPr>
            </p:nvSpPr>
            <p:spPr>
              <a:xfrm>
                <a:off x="685800" y="1143000"/>
                <a:ext cx="5487035" cy="3086735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0" tIns="0" rIns="0" bIns="0" anchor="t">
                <a:noAutofit/>
              </a:bodyPr>
              <a:lstStyle/>
              <a:p>
                <a:pPr marL="0" indent="0"/>
                <a:endParaRPr/>
              </a:p>
            </p:txBody>
          </p:sp>
          <p:sp>
            <p:nvSpPr>
              <p:cNvPr id="3" name="슬라이드 노트 개체 틀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pPr marL="0" indent="0" latinLnBrk="0">
                  <a:buFontTx/>
                  <a:buNone/>
                </a:pPr>
                <a:endParaRPr/>
              </a:p>
            </p:txBody>
          </p:sp>
          <p:sp>
            <p:nvSpPr>
              <p:cNvPr id="4" name="슬라이드 번호 개체 틀 3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b">
                <a:noAutofit/>
              </a:bodyPr>
              <a:lstStyle/>
              <a:p>
                <a:pPr marL="0" indent="0" latinLnBrk="0">
                  <a:buFontTx/>
                  <a:buNone/>
                </a:pPr>
                <a:fld id="{B9320F77-B9A0-41C5-862A-B4B631284C64}" type="slidenum">
                  <a:rPr lang="ko-KR" altLang="en-US"/>
                  <a:t>24</a:t>
                </a:fld>
                <a:endParaRPr lang="ko-KR" altLang="en-US"/>
              </a:p>
            </p:txBody>
          </p:sp>
        </p:spTree>
      </p:cSld>
      <p:clrMapOvr>
        <a:masterClrMapping/>
      </p:clrMapOvr>
    </p:notes>
  </mc:Choice>
  <mc:Fallback xmlns:mc="http://schemas.openxmlformats.org/markup-compatibility/2006" xmlns:p="http://schemas.openxmlformats.org/presentationml/2006/main" xmlns:r="http://schemas.openxmlformats.org/officeDocument/2006/relationships" xmlns:a="http://schemas.openxmlformats.org/drawingml/2006/main" xmlns="" xmlns:p14="http://schemas.microsoft.com/office/powerpoint/2010/main">
    <p:transition spd="slow"/>
  </mc:Fallback>
</mc:AlternateContent>
</file>

<file path=ppt/notesSlides/notesSlide25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슬라이드 이미지 개체 틀 1"/>
              <p:cNvSpPr>
                <a:spLocks noGrp="1" noRot="1" noChangeAspect="1"/>
              </p:cNvSpPr>
              <p:nvPr>
                <p:ph type="sldImg"/>
              </p:nvPr>
            </p:nvSpPr>
            <p:spPr>
              <a:xfrm>
                <a:off x="685800" y="1143000"/>
                <a:ext cx="5487035" cy="3086735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0" tIns="0" rIns="0" bIns="0" anchor="t">
                <a:noAutofit/>
              </a:bodyPr>
              <a:lstStyle/>
              <a:p>
                <a:pPr marL="0" indent="0"/>
                <a:endParaRPr/>
              </a:p>
            </p:txBody>
          </p:sp>
          <p:sp>
            <p:nvSpPr>
              <p:cNvPr id="3" name="슬라이드 노트 개체 틀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pPr marL="0" indent="0" latinLnBrk="0">
                  <a:buFontTx/>
                  <a:buNone/>
                </a:pPr>
                <a:endParaRPr/>
              </a:p>
            </p:txBody>
          </p:sp>
          <p:sp>
            <p:nvSpPr>
              <p:cNvPr id="4" name="슬라이드 번호 개체 틀 3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b">
                <a:noAutofit/>
              </a:bodyPr>
              <a:lstStyle/>
              <a:p>
                <a:pPr marL="0" indent="0" latinLnBrk="0">
                  <a:buFontTx/>
                  <a:buNone/>
                </a:pPr>
                <a:fld id="{B9320F77-B9A0-41C5-862A-B4B631284C64}" type="slidenum">
                  <a:rPr lang="ko-KR" altLang="en-US"/>
                  <a:t>25</a:t>
                </a:fld>
                <a:endParaRPr lang="ko-KR" altLang="en-US"/>
              </a:p>
            </p:txBody>
          </p:sp>
        </p:spTree>
      </p:cSld>
      <p:clrMapOvr>
        <a:masterClrMapping/>
      </p:clrMapOvr>
    </p:notes>
  </mc:Choice>
  <mc:Fallback xmlns:mc="http://schemas.openxmlformats.org/markup-compatibility/2006" xmlns:p="http://schemas.openxmlformats.org/presentationml/2006/main" xmlns:r="http://schemas.openxmlformats.org/officeDocument/2006/relationships" xmlns:a="http://schemas.openxmlformats.org/drawingml/2006/main" xmlns="" xmlns:p14="http://schemas.microsoft.com/office/powerpoint/2010/main">
    <p:transition spd="slow"/>
  </mc:Fallback>
</mc:AlternateContent>
</file>

<file path=ppt/notesSlides/notesSlide26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슬라이드 이미지 개체 틀 1"/>
              <p:cNvSpPr>
                <a:spLocks noGrp="1" noRot="1" noChangeAspect="1"/>
              </p:cNvSpPr>
              <p:nvPr>
                <p:ph type="sldImg"/>
              </p:nvPr>
            </p:nvSpPr>
            <p:spPr>
              <a:xfrm>
                <a:off x="685800" y="1143000"/>
                <a:ext cx="5487035" cy="3086735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0" tIns="0" rIns="0" bIns="0" anchor="t">
                <a:noAutofit/>
              </a:bodyPr>
              <a:lstStyle/>
              <a:p>
                <a:pPr marL="0" indent="0"/>
                <a:endParaRPr/>
              </a:p>
            </p:txBody>
          </p:sp>
          <p:sp>
            <p:nvSpPr>
              <p:cNvPr id="3" name="슬라이드 노트 개체 틀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pPr marL="0" indent="0" latinLnBrk="0">
                  <a:buFontTx/>
                  <a:buNone/>
                </a:pPr>
                <a:endParaRPr/>
              </a:p>
            </p:txBody>
          </p:sp>
          <p:sp>
            <p:nvSpPr>
              <p:cNvPr id="4" name="슬라이드 번호 개체 틀 3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b">
                <a:noAutofit/>
              </a:bodyPr>
              <a:lstStyle/>
              <a:p>
                <a:pPr marL="0" indent="0" latinLnBrk="0">
                  <a:buFontTx/>
                  <a:buNone/>
                </a:pPr>
                <a:fld id="{B9320F77-B9A0-41C5-862A-B4B631284C64}" type="slidenum">
                  <a:rPr lang="ko-KR" altLang="en-US"/>
                  <a:t>26</a:t>
                </a:fld>
                <a:endParaRPr lang="ko-KR" altLang="en-US"/>
              </a:p>
            </p:txBody>
          </p:sp>
        </p:spTree>
      </p:cSld>
      <p:clrMapOvr>
        <a:masterClrMapping/>
      </p:clrMapOvr>
    </p:notes>
  </mc:Choice>
  <mc:Fallback xmlns:mc="http://schemas.openxmlformats.org/markup-compatibility/2006" xmlns:p="http://schemas.openxmlformats.org/presentationml/2006/main" xmlns:r="http://schemas.openxmlformats.org/officeDocument/2006/relationships" xmlns:a="http://schemas.openxmlformats.org/drawingml/2006/main" xmlns="" xmlns:p14="http://schemas.microsoft.com/office/powerpoint/2010/main">
    <p:transition spd="slow"/>
  </mc:Fallback>
</mc:AlternateContent>
</file>

<file path=ppt/notesSlides/notesSlide27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슬라이드 이미지 개체 틀 1"/>
              <p:cNvSpPr>
                <a:spLocks noGrp="1" noRot="1" noChangeAspect="1"/>
              </p:cNvSpPr>
              <p:nvPr>
                <p:ph type="sldImg"/>
              </p:nvPr>
            </p:nvSpPr>
            <p:spPr>
              <a:xfrm>
                <a:off x="685800" y="1143000"/>
                <a:ext cx="5487035" cy="3086735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0" tIns="0" rIns="0" bIns="0" anchor="t">
                <a:noAutofit/>
              </a:bodyPr>
              <a:lstStyle/>
              <a:p>
                <a:pPr marL="0" indent="0"/>
                <a:endParaRPr/>
              </a:p>
            </p:txBody>
          </p:sp>
          <p:sp>
            <p:nvSpPr>
              <p:cNvPr id="3" name="슬라이드 노트 개체 틀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pPr marL="0" indent="0" latinLnBrk="0">
                  <a:buFontTx/>
                  <a:buNone/>
                </a:pPr>
                <a:endParaRPr/>
              </a:p>
            </p:txBody>
          </p:sp>
          <p:sp>
            <p:nvSpPr>
              <p:cNvPr id="4" name="슬라이드 번호 개체 틀 3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b">
                <a:noAutofit/>
              </a:bodyPr>
              <a:lstStyle/>
              <a:p>
                <a:pPr marL="0" indent="0" latinLnBrk="0">
                  <a:buFontTx/>
                  <a:buNone/>
                </a:pPr>
                <a:fld id="{B9320F77-B9A0-41C5-862A-B4B631284C64}" type="slidenum">
                  <a:rPr lang="ko-KR" altLang="en-US"/>
                  <a:t>27</a:t>
                </a:fld>
                <a:endParaRPr lang="ko-KR" altLang="en-US"/>
              </a:p>
            </p:txBody>
          </p:sp>
        </p:spTree>
      </p:cSld>
      <p:clrMapOvr>
        <a:masterClrMapping/>
      </p:clrMapOvr>
    </p:notes>
  </mc:Choice>
  <mc:Fallback xmlns:mc="http://schemas.openxmlformats.org/markup-compatibility/2006" xmlns:p="http://schemas.openxmlformats.org/presentationml/2006/main" xmlns:r="http://schemas.openxmlformats.org/officeDocument/2006/relationships" xmlns:a="http://schemas.openxmlformats.org/drawingml/2006/main" xmlns="" xmlns:p14="http://schemas.microsoft.com/office/powerpoint/2010/main">
    <p:transition spd="slow"/>
  </mc:Fallback>
</mc:AlternateContent>
</file>

<file path=ppt/notesSlides/notesSlide28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슬라이드 이미지 개체 틀 1"/>
              <p:cNvSpPr>
                <a:spLocks noGrp="1" noRot="1" noChangeAspect="1"/>
              </p:cNvSpPr>
              <p:nvPr>
                <p:ph type="sldImg"/>
              </p:nvPr>
            </p:nvSpPr>
            <p:spPr>
              <a:xfrm>
                <a:off x="685800" y="1143000"/>
                <a:ext cx="5487035" cy="3086735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0" tIns="0" rIns="0" bIns="0" anchor="t">
                <a:noAutofit/>
              </a:bodyPr>
              <a:lstStyle/>
              <a:p>
                <a:pPr marL="0" indent="0"/>
                <a:endParaRPr/>
              </a:p>
            </p:txBody>
          </p:sp>
          <p:sp>
            <p:nvSpPr>
              <p:cNvPr id="3" name="슬라이드 노트 개체 틀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pPr marL="0" indent="0" latinLnBrk="0">
                  <a:buFontTx/>
                  <a:buNone/>
                </a:pPr>
                <a:endParaRPr/>
              </a:p>
            </p:txBody>
          </p:sp>
          <p:sp>
            <p:nvSpPr>
              <p:cNvPr id="4" name="슬라이드 번호 개체 틀 3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b">
                <a:noAutofit/>
              </a:bodyPr>
              <a:lstStyle/>
              <a:p>
                <a:pPr marL="0" indent="0" latinLnBrk="0">
                  <a:buFontTx/>
                  <a:buNone/>
                </a:pPr>
                <a:fld id="{B9320F77-B9A0-41C5-862A-B4B631284C64}" type="slidenum">
                  <a:rPr lang="ko-KR" altLang="en-US"/>
                  <a:t>28</a:t>
                </a:fld>
                <a:endParaRPr lang="ko-KR" altLang="en-US"/>
              </a:p>
            </p:txBody>
          </p:sp>
        </p:spTree>
      </p:cSld>
      <p:clrMapOvr>
        <a:masterClrMapping/>
      </p:clrMapOvr>
    </p:notes>
  </mc:Choice>
  <mc:Fallback xmlns:mc="http://schemas.openxmlformats.org/markup-compatibility/2006" xmlns:p="http://schemas.openxmlformats.org/presentationml/2006/main" xmlns:r="http://schemas.openxmlformats.org/officeDocument/2006/relationships" xmlns:a="http://schemas.openxmlformats.org/drawingml/2006/main" xmlns="" xmlns:p14="http://schemas.microsoft.com/office/powerpoint/2010/main">
    <p:transition spd="slow"/>
  </mc:Fallback>
</mc:AlternateContent>
</file>

<file path=ppt/notesSlides/notesSlide29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슬라이드 이미지 개체 틀 1"/>
              <p:cNvSpPr>
                <a:spLocks noGrp="1" noRot="1" noChangeAspect="1"/>
              </p:cNvSpPr>
              <p:nvPr>
                <p:ph type="sldImg"/>
              </p:nvPr>
            </p:nvSpPr>
            <p:spPr>
              <a:xfrm>
                <a:off x="685800" y="1143000"/>
                <a:ext cx="5487035" cy="3086735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0" tIns="0" rIns="0" bIns="0" anchor="t">
                <a:noAutofit/>
              </a:bodyPr>
              <a:lstStyle/>
              <a:p>
                <a:pPr marL="0" indent="0"/>
                <a:endParaRPr/>
              </a:p>
            </p:txBody>
          </p:sp>
          <p:sp>
            <p:nvSpPr>
              <p:cNvPr id="3" name="슬라이드 노트 개체 틀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pPr marL="0" indent="0" latinLnBrk="0">
                  <a:buFontTx/>
                  <a:buNone/>
                </a:pPr>
                <a:endParaRPr/>
              </a:p>
            </p:txBody>
          </p:sp>
          <p:sp>
            <p:nvSpPr>
              <p:cNvPr id="4" name="슬라이드 번호 개체 틀 3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b">
                <a:noAutofit/>
              </a:bodyPr>
              <a:lstStyle/>
              <a:p>
                <a:pPr marL="0" indent="0" latinLnBrk="0">
                  <a:buFontTx/>
                  <a:buNone/>
                </a:pPr>
                <a:fld id="{B9320F77-B9A0-41C5-862A-B4B631284C64}" type="slidenum">
                  <a:rPr lang="ko-KR" altLang="en-US"/>
                  <a:t>29</a:t>
                </a:fld>
                <a:endParaRPr lang="ko-KR" altLang="en-US"/>
              </a:p>
            </p:txBody>
          </p:sp>
        </p:spTree>
      </p:cSld>
      <p:clrMapOvr>
        <a:masterClrMapping/>
      </p:clrMapOvr>
    </p:notes>
  </mc:Choice>
  <mc:Fallback xmlns:mc="http://schemas.openxmlformats.org/markup-compatibility/2006" xmlns:p="http://schemas.openxmlformats.org/presentationml/2006/main" xmlns:r="http://schemas.openxmlformats.org/officeDocument/2006/relationships" xmlns:a="http://schemas.openxmlformats.org/drawingml/2006/main" xmlns="" xmlns:p14="http://schemas.microsoft.com/office/powerpoint/2010/main">
    <p:transition spd="slow"/>
  </mc:Fallback>
</mc:AlternateContent>
</file>

<file path=ppt/notesSlides/notesSlide30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슬라이드 이미지 개체 틀 1"/>
              <p:cNvSpPr>
                <a:spLocks noGrp="1" noRot="1" noChangeAspect="1"/>
              </p:cNvSpPr>
              <p:nvPr>
                <p:ph type="sldImg"/>
              </p:nvPr>
            </p:nvSpPr>
            <p:spPr>
              <a:xfrm>
                <a:off x="685800" y="1143000"/>
                <a:ext cx="5487035" cy="3086735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0" tIns="0" rIns="0" bIns="0" anchor="t">
                <a:noAutofit/>
              </a:bodyPr>
              <a:lstStyle/>
              <a:p>
                <a:pPr marL="0" indent="0"/>
                <a:endParaRPr/>
              </a:p>
            </p:txBody>
          </p:sp>
          <p:sp>
            <p:nvSpPr>
              <p:cNvPr id="3" name="슬라이드 노트 개체 틀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pPr marL="0" indent="0" latinLnBrk="0">
                  <a:buFontTx/>
                  <a:buNone/>
                </a:pPr>
                <a:endParaRPr/>
              </a:p>
            </p:txBody>
          </p:sp>
          <p:sp>
            <p:nvSpPr>
              <p:cNvPr id="4" name="슬라이드 번호 개체 틀 3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b">
                <a:noAutofit/>
              </a:bodyPr>
              <a:lstStyle/>
              <a:p>
                <a:pPr marL="0" indent="0" latinLnBrk="0">
                  <a:buFontTx/>
                  <a:buNone/>
                </a:pPr>
                <a:fld id="{B9320F77-B9A0-41C5-862A-B4B631284C64}" type="slidenum">
                  <a:rPr lang="ko-KR" altLang="en-US"/>
                  <a:t>30</a:t>
                </a:fld>
                <a:endParaRPr lang="ko-KR" altLang="en-US"/>
              </a:p>
            </p:txBody>
          </p:sp>
        </p:spTree>
      </p:cSld>
      <p:clrMapOvr>
        <a:masterClrMapping/>
      </p:clrMapOvr>
    </p:notes>
  </mc:Choice>
  <mc:Fallback xmlns:mc="http://schemas.openxmlformats.org/markup-compatibility/2006" xmlns:p="http://schemas.openxmlformats.org/presentationml/2006/main" xmlns:r="http://schemas.openxmlformats.org/officeDocument/2006/relationships" xmlns:a="http://schemas.openxmlformats.org/drawingml/2006/main" xmlns="" xmlns:p14="http://schemas.microsoft.com/office/powerpoint/2010/main">
    <p:transition spd="slow"/>
  </mc:Fallback>
</mc:AlternateContent>
</file>

<file path=ppt/notesSlides/notesSlide31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Rect 0"/>
              <p:cNvSpPr>
                <a:spLocks noGrp="1" noRot="1" noChangeAspect="1"/>
              </p:cNvSpPr>
              <p:nvPr>
                <p:ph type="sldImg"/>
              </p:nvPr>
            </p:nvSpPr>
            <p:spPr>
              <a:xfrm>
                <a:off x="685800" y="1143000"/>
                <a:ext cx="5486400" cy="3086100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0" tIns="0" rIns="0" bIns="0" anchor="t">
                <a:noAutofit/>
              </a:bodyPr>
              <a:lstStyle/>
              <a:p>
                <a:pPr marL="0" indent="0"/>
                <a:endParaRPr/>
              </a:p>
            </p:txBody>
          </p:sp>
          <p:sp>
            <p:nvSpPr>
              <p:cNvPr id="3" name="Rect 0"/>
              <p:cNvSpPr txBox="1">
                <a:spLocks noGrp="1"/>
              </p:cNvSpPr>
              <p:nvPr>
                <p:ph type="body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latinLnBrk="0">
                  <a:buFontTx/>
                  <a:buNone/>
                </a:pPr>
                <a:endParaRPr/>
              </a:p>
            </p:txBody>
          </p:sp>
          <p:sp>
            <p:nvSpPr>
              <p:cNvPr id="4" name="Rect 0"/>
              <p:cNvSpPr txBox="1">
                <a:spLocks noGrp="1"/>
              </p:cNvSpPr>
              <p:nvPr>
                <p:ph type="sldNum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latinLnBrk="0">
                  <a:buFontTx/>
                  <a:buNone/>
                </a:pPr>
                <a:fld id="{B9320F77-B9A0-41C5-862A-B4B631284C64}" type="slidenum">
                  <a:rPr>
                    <a:latin typeface="맑은 고딕" charset="0"/>
                    <a:ea typeface="맑은 고딕" charset="0"/>
                  </a:rPr>
                  <a:t>31</a:t>
                </a:fld>
                <a:endParaRPr>
                  <a:latin typeface="맑은 고딕" charset="0"/>
                  <a:ea typeface="맑은 고딕" charset="0"/>
                </a:endParaRPr>
              </a:p>
            </p:txBody>
          </p:sp>
        </p:spTree>
      </p:cSld>
      <p:clrMapOvr>
        <a:masterClrMapping/>
      </p:clrMapOvr>
    </p:notes>
  </mc:Choice>
  <mc:Fallback xmlns:mc="http://schemas.openxmlformats.org/markup-compatibility/2006" xmlns:p="http://schemas.openxmlformats.org/presentationml/2006/main" xmlns:r="http://schemas.openxmlformats.org/officeDocument/2006/relationships" xmlns:a="http://schemas.openxmlformats.org/drawingml/2006/main" xmlns="" xmlns:p14="http://schemas.microsoft.com/office/powerpoint/2010/main">
    <p:transition spd="slow"/>
  </mc:Fallback>
</mc:AlternateContent>
</file>

<file path=ppt/notesSlides/notesSlide32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Rect 0"/>
              <p:cNvSpPr>
                <a:spLocks noGrp="1" noRot="1" noChangeAspect="1"/>
              </p:cNvSpPr>
              <p:nvPr>
                <p:ph type="sldImg"/>
              </p:nvPr>
            </p:nvSpPr>
            <p:spPr>
              <a:xfrm>
                <a:off x="685800" y="1143000"/>
                <a:ext cx="5486400" cy="3086100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0" tIns="0" rIns="0" bIns="0" anchor="t">
                <a:noAutofit/>
              </a:bodyPr>
              <a:lstStyle/>
              <a:p>
                <a:pPr marL="0" indent="0"/>
                <a:endParaRPr/>
              </a:p>
            </p:txBody>
          </p:sp>
          <p:sp>
            <p:nvSpPr>
              <p:cNvPr id="3" name="Rect 0"/>
              <p:cNvSpPr txBox="1">
                <a:spLocks noGrp="1"/>
              </p:cNvSpPr>
              <p:nvPr>
                <p:ph type="body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latinLnBrk="0">
                  <a:buFontTx/>
                  <a:buNone/>
                </a:pPr>
                <a:endParaRPr/>
              </a:p>
            </p:txBody>
          </p:sp>
          <p:sp>
            <p:nvSpPr>
              <p:cNvPr id="4" name="Rect 0"/>
              <p:cNvSpPr txBox="1">
                <a:spLocks noGrp="1"/>
              </p:cNvSpPr>
              <p:nvPr>
                <p:ph type="sldNum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latinLnBrk="0">
                  <a:buFontTx/>
                  <a:buNone/>
                </a:pPr>
                <a:fld id="{B9320F77-B9A0-41C5-862A-B4B631284C64}" type="slidenum">
                  <a:rPr>
                    <a:latin typeface="맑은 고딕" charset="0"/>
                    <a:ea typeface="맑은 고딕" charset="0"/>
                  </a:rPr>
                  <a:t>32</a:t>
                </a:fld>
                <a:endParaRPr>
                  <a:latin typeface="맑은 고딕" charset="0"/>
                  <a:ea typeface="맑은 고딕" charset="0"/>
                </a:endParaRPr>
              </a:p>
            </p:txBody>
          </p:sp>
        </p:spTree>
      </p:cSld>
      <p:clrMapOvr>
        <a:masterClrMapping/>
      </p:clrMapOvr>
    </p:notes>
  </mc:Choice>
  <mc:Fallback xmlns:mc="http://schemas.openxmlformats.org/markup-compatibility/2006" xmlns:p="http://schemas.openxmlformats.org/presentationml/2006/main" xmlns:r="http://schemas.openxmlformats.org/officeDocument/2006/relationships" xmlns:a="http://schemas.openxmlformats.org/drawingml/2006/main" xmlns="" xmlns:p14="http://schemas.microsoft.com/office/powerpoint/2010/main">
    <p:transition spd="slow"/>
  </mc:Fallback>
</mc:AlternateContent>
</file>

<file path=ppt/notesSlides/notesSlide33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Rect 0"/>
              <p:cNvSpPr>
                <a:spLocks noGrp="1" noRot="1" noChangeAspect="1"/>
              </p:cNvSpPr>
              <p:nvPr>
                <p:ph type="sldImg"/>
              </p:nvPr>
            </p:nvSpPr>
            <p:spPr>
              <a:xfrm>
                <a:off x="685800" y="1143000"/>
                <a:ext cx="5486400" cy="3086100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0" tIns="0" rIns="0" bIns="0" anchor="t">
                <a:noAutofit/>
              </a:bodyPr>
              <a:lstStyle/>
              <a:p>
                <a:pPr marL="0" indent="0"/>
                <a:endParaRPr/>
              </a:p>
            </p:txBody>
          </p:sp>
          <p:sp>
            <p:nvSpPr>
              <p:cNvPr id="3" name="Rect 0"/>
              <p:cNvSpPr txBox="1">
                <a:spLocks noGrp="1"/>
              </p:cNvSpPr>
              <p:nvPr>
                <p:ph type="body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anchor="t">
                <a:noAutofit/>
              </a:bodyPr>
              <a:lstStyle/>
              <a:p>
                <a:pPr marL="0" indent="0" latinLnBrk="0">
                  <a:buFontTx/>
                  <a:buNone/>
                </a:pPr>
                <a:endParaRPr/>
              </a:p>
            </p:txBody>
          </p:sp>
          <p:sp>
            <p:nvSpPr>
              <p:cNvPr id="4" name="Rect 0"/>
              <p:cNvSpPr txBox="1">
                <a:spLocks noGrp="1"/>
              </p:cNvSpPr>
              <p:nvPr>
                <p:ph type="sldNum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anchor="b">
                <a:noAutofit/>
              </a:bodyPr>
              <a:lstStyle/>
              <a:p>
                <a:pPr marL="0" indent="0" latinLnBrk="0">
                  <a:buFontTx/>
                  <a:buNone/>
                </a:pPr>
                <a:fld id="{B9320F77-B9A0-41C5-862A-B4B631284C64}" type="slidenum">
                  <a:rPr>
                    <a:latin typeface="맑은 고딕" charset="0"/>
                    <a:ea typeface="맑은 고딕" charset="0"/>
                  </a:rPr>
                  <a:t>33</a:t>
                </a:fld>
                <a:endParaRPr>
                  <a:latin typeface="맑은 고딕" charset="0"/>
                  <a:ea typeface="맑은 고딕" charset="0"/>
                </a:endParaRPr>
              </a:p>
            </p:txBody>
          </p:sp>
        </p:spTree>
      </p:cSld>
      <p:clrMapOvr>
        <a:masterClrMapping/>
      </p:clrMapOvr>
    </p:notes>
  </mc:Choice>
  <mc:Fallback xmlns:mc="http://schemas.openxmlformats.org/markup-compatibility/2006" xmlns:p="http://schemas.openxmlformats.org/presentationml/2006/main" xmlns:r="http://schemas.openxmlformats.org/officeDocument/2006/relationships" xmlns:a="http://schemas.openxmlformats.org/drawingml/2006/main" xmlns="" xmlns:p14="http://schemas.microsoft.com/office/powerpoint/2010/main">
    <p:transition spd="slow"/>
  </mc:Fallback>
</mc:AlternateContent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1897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1897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18972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defTabSz="508000"/>
            <a:endParaRPr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defTabSz="508000" latinLnBrk="0">
              <a:buFontTx/>
              <a:buNone/>
            </a:pPr>
            <a:endParaRPr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 defTabSz="508000" latinLnBrk="0">
              <a:buFontTx/>
              <a:buNone/>
            </a:pPr>
            <a:fld id="{B9320F77-B9A0-41C5-862A-B4B631284C64}" type="slidenum">
              <a:rPr lang="ko-KR" altLang="en-US"/>
              <a:t>37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defTabSz="508000"/>
            <a:endParaRPr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defTabSz="508000" latinLnBrk="0">
              <a:buFontTx/>
              <a:buNone/>
            </a:pPr>
            <a:endParaRPr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 defTabSz="508000" latinLnBrk="0">
              <a:buFontTx/>
              <a:buNone/>
            </a:pPr>
            <a:fld id="{B9320F77-B9A0-41C5-862A-B4B631284C64}" type="slidenum">
              <a:rPr lang="ko-KR" altLang="en-US"/>
              <a:t>38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defTabSz="508000"/>
            <a:endParaRPr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defTabSz="508000" latinLnBrk="0">
              <a:buFontTx/>
              <a:buNone/>
            </a:pPr>
            <a:endParaRPr/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Autofit/>
          </a:bodyPr>
          <a:lstStyle/>
          <a:p>
            <a:pPr marL="0" indent="0" defTabSz="508000" latinLnBrk="0">
              <a:buFontTx/>
              <a:buNone/>
            </a:pPr>
            <a:fld id="{B9320F77-B9A0-41C5-862A-B4B631284C64}" type="slidenum">
              <a:rPr lang="ko-KR" altLang="en-US"/>
              <a:t>39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0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슬라이드 이미지 개체 틀 1"/>
              <p:cNvSpPr>
                <a:spLocks noGrp="1" noRot="1" noChangeAspect="1"/>
              </p:cNvSpPr>
              <p:nvPr>
                <p:ph type="sldImg"/>
              </p:nvPr>
            </p:nvSpPr>
            <p:spPr>
              <a:xfrm>
                <a:off x="685800" y="1143000"/>
                <a:ext cx="5487035" cy="3086735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0" tIns="0" rIns="0" bIns="0" anchor="t">
                <a:noAutofit/>
              </a:bodyPr>
              <a:lstStyle/>
              <a:p>
                <a:pPr marL="0" indent="0"/>
                <a:endParaRPr/>
              </a:p>
            </p:txBody>
          </p:sp>
          <p:sp>
            <p:nvSpPr>
              <p:cNvPr id="3" name="슬라이드 노트 개체 틀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pPr marL="0" indent="0" latinLnBrk="0">
                  <a:buFontTx/>
                  <a:buNone/>
                </a:pPr>
                <a:endParaRPr/>
              </a:p>
            </p:txBody>
          </p:sp>
          <p:sp>
            <p:nvSpPr>
              <p:cNvPr id="4" name="슬라이드 번호 개체 틀 3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b">
                <a:noAutofit/>
              </a:bodyPr>
              <a:lstStyle/>
              <a:p>
                <a:pPr marL="0" indent="0" latinLnBrk="0">
                  <a:buFontTx/>
                  <a:buNone/>
                </a:pPr>
                <a:fld id="{B9320F77-B9A0-41C5-862A-B4B631284C64}" type="slidenum">
                  <a:rPr lang="ko-KR" altLang="en-US"/>
                  <a:t>40</a:t>
                </a:fld>
                <a:endParaRPr lang="ko-KR" altLang="en-US"/>
              </a:p>
            </p:txBody>
          </p:sp>
        </p:spTree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41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슬라이드 이미지 개체 틀 1"/>
              <p:cNvSpPr>
                <a:spLocks noGrp="1" noRot="1" noChangeAspect="1"/>
              </p:cNvSpPr>
              <p:nvPr>
                <p:ph type="sldImg"/>
              </p:nvPr>
            </p:nvSpPr>
            <p:spPr>
              <a:xfrm>
                <a:off x="685800" y="1143000"/>
                <a:ext cx="5487035" cy="3086735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0" tIns="0" rIns="0" bIns="0" anchor="t">
                <a:noAutofit/>
              </a:bodyPr>
              <a:lstStyle/>
              <a:p>
                <a:pPr marL="0" indent="0"/>
                <a:endParaRPr/>
              </a:p>
            </p:txBody>
          </p:sp>
          <p:sp>
            <p:nvSpPr>
              <p:cNvPr id="3" name="슬라이드 노트 개체 틀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pPr marL="0" indent="0" latinLnBrk="0">
                  <a:buFontTx/>
                  <a:buNone/>
                </a:pPr>
                <a:endParaRPr/>
              </a:p>
            </p:txBody>
          </p:sp>
          <p:sp>
            <p:nvSpPr>
              <p:cNvPr id="4" name="슬라이드 번호 개체 틀 3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b">
                <a:noAutofit/>
              </a:bodyPr>
              <a:lstStyle/>
              <a:p>
                <a:pPr marL="0" indent="0" latinLnBrk="0">
                  <a:buFontTx/>
                  <a:buNone/>
                </a:pPr>
                <a:fld id="{B9320F77-B9A0-41C5-862A-B4B631284C64}" type="slidenum">
                  <a:rPr lang="ko-KR" altLang="en-US"/>
                  <a:t>41</a:t>
                </a:fld>
                <a:endParaRPr lang="ko-KR" altLang="en-US"/>
              </a:p>
            </p:txBody>
          </p:sp>
        </p:spTree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notesSlides/notesSlide42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슬라이드 이미지 개체 틀 1"/>
              <p:cNvSpPr>
                <a:spLocks noGrp="1" noRot="1" noChangeAspect="1"/>
              </p:cNvSpPr>
              <p:nvPr>
                <p:ph type="sldImg"/>
              </p:nvPr>
            </p:nvSpPr>
            <p:spPr>
              <a:xfrm>
                <a:off x="685800" y="1143000"/>
                <a:ext cx="5487035" cy="3086735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0" tIns="0" rIns="0" bIns="0" anchor="t">
                <a:noAutofit/>
              </a:bodyPr>
              <a:lstStyle/>
              <a:p>
                <a:pPr marL="0" indent="0"/>
                <a:endParaRPr/>
              </a:p>
            </p:txBody>
          </p:sp>
          <p:sp>
            <p:nvSpPr>
              <p:cNvPr id="3" name="슬라이드 노트 개체 틀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pPr marL="0" indent="0" latinLnBrk="0">
                  <a:buFontTx/>
                  <a:buNone/>
                </a:pPr>
                <a:endParaRPr/>
              </a:p>
            </p:txBody>
          </p:sp>
          <p:sp>
            <p:nvSpPr>
              <p:cNvPr id="4" name="슬라이드 번호 개체 틀 3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b">
                <a:noAutofit/>
              </a:bodyPr>
              <a:lstStyle/>
              <a:p>
                <a:pPr marL="0" indent="0" latinLnBrk="0">
                  <a:buFontTx/>
                  <a:buNone/>
                </a:pPr>
                <a:fld id="{B9320F77-B9A0-41C5-862A-B4B631284C64}" type="slidenum">
                  <a:rPr lang="ko-KR" altLang="en-US"/>
                  <a:t>42</a:t>
                </a:fld>
                <a:endParaRPr lang="ko-KR" altLang="en-US"/>
              </a:p>
            </p:txBody>
          </p:sp>
        </p:spTree>
      </p:cSld>
      <p:clrMapOvr>
        <a:masterClrMapping/>
      </p:clrMapOvr>
    </p:notes>
  </mc:Choice>
  <mc:Fallback xmlns:p14="http://schemas.microsoft.com/office/powerpoint/2010/main" xmlns="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  <p:transition spd="slow"/>
  </mc:Fallback>
</mc:AlternateConten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0774E7-377B-4684-ABD2-FF18547CF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505C45-075B-4ABD-8830-4A2C410DB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F6CF88-FBD6-40BA-AA65-3BF14479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C07BE1-053A-493A-A82F-FA13A9D5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D918B-FE23-4C25-8BB4-885E7725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41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B4188-9255-43BE-80C1-2C75ED1C5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AB1FCB-9342-4DCD-AD29-6882C2A49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26A791-C59E-4277-9779-9F355985C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E26ED2-44AB-4D45-AB73-99E4EB6E3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88C3FF-A82F-4889-A5B9-8B1EBCD62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569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3657A-9E46-4765-9F36-AB7883842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35B003-1D2E-431B-BB3B-277AD7D4D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9098D2-3E3C-4DFD-8BED-98D0808AD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5E8ACE-09CE-405C-8B4B-596459B2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BFB5A6-11B7-405E-962B-0DA23DB6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89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31C60-C722-4798-AAC4-3D419F189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477236-5BB9-43F8-B65F-5BFDF7CA8E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952598-AEFB-4C75-A66C-6EB670A1F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1EBF6B-D5A9-4A5E-BA30-B79672458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9EA337-F895-4649-A2EF-3B345F5A4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DA978C-BAEC-46F8-B84B-111024E1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547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4B0A4-DC72-4C20-AFC2-CD47E575B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ADDFA8-2759-4A24-A56B-B55811FE5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1112F2-46E1-4B88-95A0-A1E90678F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09226B-D1D7-4FD8-83AA-866E152D9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8A9F56B-BB65-4A98-834B-8F296E869A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B743901-114C-4572-BA12-2FD114B10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9CEC6F-5DC3-4851-9647-1D17372D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EEE2F8-963D-4772-9FC5-6CE38CFB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74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9FC1F-DE60-462F-9CBF-A1638E31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61C87B3-9F7C-434A-8675-FA46A4BF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662E5C-D237-4D42-9E62-1D52B75F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E878B8-EE02-409E-B746-824FC74FF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07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CF4172-419C-4EDB-A00B-D3E4A6EDB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DEC190-7DFF-423A-99D5-89534BCB6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79826C-4835-4824-8FC5-A3D89455B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21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26B5F8-BD7C-4042-B192-FC8AD4BB4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7E39B6-D53A-4CC1-86BD-DD6A7DB9F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F289D8-1CC5-450E-B91C-571EB092C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73C92C-E1B1-4D3B-8435-B92CE9637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C18964-36DA-4808-ABBF-A19409BE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657FA3-B017-436A-9276-A76E1829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79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35213-D618-44E9-972F-69CDFE303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5D1BDF3-EDC0-472D-82E3-24DB62B3F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66D22-3421-4315-B627-D231DE4FF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B9A537-559A-42C9-BE00-57952C7F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10122-1C3E-4AE6-A9A2-800805EEE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D91D8-D632-4479-A24A-EA7C8C31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747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911B4-50AC-4A4E-842F-4326FA2B2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0136CE-76CD-456C-9AE2-91FFA24C0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E0C09D-9A22-4D88-9AC8-1DAA0FFF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C71110-0023-4745-AA93-EE045342C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2DFBC9-99B9-4516-9269-0674F20F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534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6B95C6-23CB-4E21-906E-46CFC8957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D7E8F4-AB06-4F3E-854F-570A16820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219F86-F45B-4696-8E80-92F828A9D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180D07-87CB-4CE3-BFDD-F45855157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32DAF6-FE90-4406-8FC1-56E1B7D22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731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마스터 텍스트 스타일을 편집하려면 클릭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두 번째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세 번째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네 번째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 번째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2025-12-15</a:t>
            </a:fld>
            <a:endParaRPr lang="ko-KR" altLang="en-US">
              <a:latin typeface="맑은 고딕" charset="0"/>
              <a:ea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  <a:endParaRPr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201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F77704-4182-4A60-91B5-164971EDB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365546-44DB-41D9-907B-40B7F14E8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77A9B2-0845-4823-8DB4-55F8D956FE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671E4-8F96-4428-B3BC-46A42220F4A3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A555E0-A0E1-4F94-8065-7AFD9E4ED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4A7E02-EB6C-4E29-AEEF-7CB63DD8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7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7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DE67B57-CC40-4EB9-96D7-6431E89F8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887188"/>
              </p:ext>
            </p:extLst>
          </p:nvPr>
        </p:nvGraphicFramePr>
        <p:xfrm>
          <a:off x="91988" y="89472"/>
          <a:ext cx="11992920" cy="68620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URQ-0001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회원가입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URQ-0001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회원가입 양식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사이트 이용자의 회원가입에 필요한 양식들을 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입력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가입할 회원 유형을 선택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클릭 시 색상이 변함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아이디 입력 후 클릭 시 입력한 아이디가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 존재하는지 확인 후 알림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3-2.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없는 아이디라면 해당 아이디를 수정할 수 없도록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disabled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이메일 입력 후 인증 버튼을 누르면 입력한 이메일이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 존재하는지 확인 후 존재한다면 알림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4-2. DB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 존재하지 않는 경우 인증 메일을 발송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4-3.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메일의 인증번호를 확인 후 입력 및 확인을 클릭하면 인증이 완료되며 일치하지 않는 경우 상황에 맞는 알림이 팝업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연락처 입력 후 인증버튼을 누르면 이름과 연락처가 맞는지 확인 후 인증문자를 발송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5-2.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인증번호를 입력 후 확인버튼을 누르면 결과에 따라 알림이 팝업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6. DB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 존재하는 기관목록을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선택이 가능하며 직접 입력도 가능함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회원가입 누르면 정상적으로 입력이 모두 완료된 경우 회원가입이 완료되며 가입신청 목록에 추가됨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7-2.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취소를 누르면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URQ-0003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으로 이동함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pic>
        <p:nvPicPr>
          <p:cNvPr id="6" name="그림 5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EC317B-A253-E7CE-CACD-D6B2A7A7F6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001" y="745434"/>
            <a:ext cx="4835000" cy="579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213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B1177-FB5F-F3A9-8619-5BC223683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46BC61A2-A3A4-57F7-7E89-A86BF1999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617833"/>
              </p:ext>
            </p:extLst>
          </p:nvPr>
        </p:nvGraphicFramePr>
        <p:xfrm>
          <a:off x="91988" y="89472"/>
          <a:ext cx="11992920" cy="67755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URQ-0002-1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회원 관리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URQ-0002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개요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가입요청 관리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관리자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시스템관리자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개발자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서정우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회원가입 요청 목록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검색할 요소를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에서 선택한 뒤 입력 후 검색을 누르면 해당하는 목록을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번의 리스트에 띄움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가입요청자의 아이디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연락처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가입요청일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상태를 목록으로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4. 5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번에서 선택된 요소를 일괄 승인 또는 삭제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원하는 가입요청을 선택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가입요청자의 정보를 수정할 수 있는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나타남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9D0897-19E3-4B52-47D2-8786A37749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20" y="1371600"/>
            <a:ext cx="8105673" cy="474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951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FDBA0-72C2-649A-4AC2-93BCD8E34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E8FE8F4B-DD2F-34D6-008A-619A931F7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063934"/>
              </p:ext>
            </p:extLst>
          </p:nvPr>
        </p:nvGraphicFramePr>
        <p:xfrm>
          <a:off x="91988" y="89472"/>
          <a:ext cx="11992920" cy="67755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URQ-0002-2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회원 관리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URQ-0002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개요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가입요청 관리 </a:t>
                      </a:r>
                      <a:r>
                        <a:rPr lang="en-US" altLang="ko-KR" sz="1000" dirty="0"/>
                        <a:t>- </a:t>
                      </a:r>
                      <a:r>
                        <a:rPr lang="ko-KR" altLang="en-US" sz="1000" dirty="0"/>
                        <a:t>수정 </a:t>
                      </a:r>
                      <a:r>
                        <a:rPr lang="ko-KR" altLang="en-US" sz="1000" dirty="0" err="1"/>
                        <a:t>모달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관리자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시스템관리자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개발자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서정우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1-1. </a:t>
                      </a:r>
                      <a:r>
                        <a:rPr lang="en-US" altLang="ko-KR" sz="1000" dirty="0"/>
                        <a:t>URQ-0002-1</a:t>
                      </a:r>
                      <a:r>
                        <a:rPr lang="ko-KR" altLang="en-US" sz="1000" dirty="0"/>
                        <a:t>의 </a:t>
                      </a:r>
                      <a:r>
                        <a:rPr lang="en-US" altLang="ko-KR" sz="1000" dirty="0"/>
                        <a:t>6</a:t>
                      </a:r>
                      <a:r>
                        <a:rPr lang="ko-KR" altLang="en-US" sz="1000" dirty="0"/>
                        <a:t>번을 누르면 나오는 </a:t>
                      </a:r>
                      <a:r>
                        <a:rPr lang="ko-KR" altLang="en-US" sz="1000" dirty="0" err="1"/>
                        <a:t>모달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1-2.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선택한 회원의 정보가 채워진 상태로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나타나며 수정이 불가능한 요소는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disabled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수정한 아이디를 입력 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 해당 아이디의 존재여부를 확인 후 결과에 따라 알림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수정사항 모두 입력 후 수정버튼 누르면 수정이 완료됨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3-2.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취소버튼을 누르면 수정되지 않으며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꺼지면서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URQ-0002-1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화면으로 다시 돌아 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소프트웨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4A5243-9DB0-986E-2174-F8E870793F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58" y="1242392"/>
            <a:ext cx="8347617" cy="493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524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69AAA-3E74-D03D-F203-0DED8D3C8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59B0B83-3466-FAB2-08CC-529EC6959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920307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URQ-0003-1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로그인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URQ-0003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로그인 양식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사이트 이용자의 로그인에 필요한 아이디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비밀번호 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입력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1-2.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로그인 버튼을 클릭하면 입력한 아이디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패스워드로 로그인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1-3.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아이디가 존재하지 않거나 비밀번호가 맞지 않는 경우 각 상황에 맞는 알림이 팝업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이전에 로그인을 할 때 아이디 저장에 체크를 한 경우 로그아웃한 이후에도 아이디는 마지막으로 로그인한 아이디로 자동으로 채워져 있음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이전에 로그인을 할 때 자동로그인에 체크를 한 경우 브라우저를 닫더라도 다시 켜면 기존 아이디로 로그인이 되어있도록 유지됨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아이디 찾기 및 비밀번호 찾기 클릭 시 각 페이지로 이동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회원가입 버튼 클릭 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회원가입 페이지로 이동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67373B-8367-2C22-AE3E-B954C8464C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37" y="1293976"/>
            <a:ext cx="5019048" cy="37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059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255EA-4718-A0B3-D4BA-646F04456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24AEE4D8-5481-8CC7-EBBC-A8DB11A23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361687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URQ-0003-1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아이디 찾기 페이지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URQ-0003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아이디 찾기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사이트 이용자의 로그인에 필요한 아이디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비밀번호 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입력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이전에 로그인을 할 때 아이디 저장에 체크를 한 경우 로그아웃한 이후에도 아이디는 마지막으로 로그인한 아이디로 자동으로 채워져 있음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이전에 로그인을 할 때 자동로그인에 체크를 한 경우 브라우저를 닫더라도 다시 켜면 기존 아이디로 로그인이 되어있도록 유지됨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810B43-E0FD-BF92-D5C6-72717E894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192" y="1385949"/>
            <a:ext cx="5352381" cy="4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701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DE67B57-CC40-4EB9-96D7-6431E89F8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002974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Dv-002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기업 회원가입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Dv-req-002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기업 회원가입 양식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기업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황준철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사이트 이용자의 회원가입에 필요한 양식들을 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입력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입력한 아이디가 서버에 존재하는지 확인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입력한 값들을 서버로 보내서 회원가입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1F16E968-CCEF-4D7C-AF5F-9A0FEADD5C19}"/>
              </a:ext>
            </a:extLst>
          </p:cNvPr>
          <p:cNvSpPr/>
          <p:nvPr/>
        </p:nvSpPr>
        <p:spPr>
          <a:xfrm>
            <a:off x="696030" y="1204331"/>
            <a:ext cx="7092175" cy="444933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76874C-5AD3-4A75-9C7D-99079F157138}"/>
              </a:ext>
            </a:extLst>
          </p:cNvPr>
          <p:cNvSpPr txBox="1"/>
          <p:nvPr/>
        </p:nvSpPr>
        <p:spPr>
          <a:xfrm>
            <a:off x="1699641" y="1538868"/>
            <a:ext cx="337881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19944E-934A-4849-96F8-39CD952CD8BA}"/>
              </a:ext>
            </a:extLst>
          </p:cNvPr>
          <p:cNvSpPr txBox="1"/>
          <p:nvPr/>
        </p:nvSpPr>
        <p:spPr>
          <a:xfrm>
            <a:off x="710522" y="1549624"/>
            <a:ext cx="898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아이디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4B7C8E-49FD-48BD-9C26-60D876E3C241}"/>
              </a:ext>
            </a:extLst>
          </p:cNvPr>
          <p:cNvSpPr txBox="1"/>
          <p:nvPr/>
        </p:nvSpPr>
        <p:spPr>
          <a:xfrm>
            <a:off x="1699641" y="2058071"/>
            <a:ext cx="337881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D6FEDA3-09F7-4B6B-85E6-9E38BB30B544}"/>
              </a:ext>
            </a:extLst>
          </p:cNvPr>
          <p:cNvSpPr/>
          <p:nvPr/>
        </p:nvSpPr>
        <p:spPr>
          <a:xfrm>
            <a:off x="5266731" y="1549624"/>
            <a:ext cx="831542" cy="3693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중복 확인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5BAA1E-477A-412E-BA05-4CF7A2D4E118}"/>
              </a:ext>
            </a:extLst>
          </p:cNvPr>
          <p:cNvSpPr txBox="1"/>
          <p:nvPr/>
        </p:nvSpPr>
        <p:spPr>
          <a:xfrm>
            <a:off x="710522" y="2081246"/>
            <a:ext cx="898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비밀번호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5091C9-B066-4954-9CC3-73ACA09D5519}"/>
              </a:ext>
            </a:extLst>
          </p:cNvPr>
          <p:cNvSpPr/>
          <p:nvPr/>
        </p:nvSpPr>
        <p:spPr>
          <a:xfrm>
            <a:off x="1699640" y="2591681"/>
            <a:ext cx="337881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2D94F-53BD-4BA7-8E50-46F33029EA51}"/>
              </a:ext>
            </a:extLst>
          </p:cNvPr>
          <p:cNvSpPr txBox="1"/>
          <p:nvPr/>
        </p:nvSpPr>
        <p:spPr>
          <a:xfrm>
            <a:off x="710521" y="2547653"/>
            <a:ext cx="8984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비밀번호</a:t>
            </a:r>
            <a:br>
              <a:rPr lang="en-US" altLang="ko-KR" sz="1400" dirty="0"/>
            </a:br>
            <a:r>
              <a:rPr lang="en-US" altLang="ko-KR" sz="1400" dirty="0"/>
              <a:t>   </a:t>
            </a:r>
            <a:r>
              <a:rPr lang="ko-KR" altLang="en-US" sz="1400" dirty="0"/>
              <a:t>확인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C5D64CC-4723-47D2-962B-9BBFE1620DE6}"/>
              </a:ext>
            </a:extLst>
          </p:cNvPr>
          <p:cNvSpPr/>
          <p:nvPr/>
        </p:nvSpPr>
        <p:spPr>
          <a:xfrm>
            <a:off x="1699640" y="3119001"/>
            <a:ext cx="337881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F88691-8A10-4F7A-9D5E-1EBCF3E5D108}"/>
              </a:ext>
            </a:extLst>
          </p:cNvPr>
          <p:cNvSpPr txBox="1"/>
          <p:nvPr/>
        </p:nvSpPr>
        <p:spPr>
          <a:xfrm>
            <a:off x="1699640" y="3653063"/>
            <a:ext cx="337881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A60CF5-AE88-4EC7-BC1E-79287AB87FBB}"/>
              </a:ext>
            </a:extLst>
          </p:cNvPr>
          <p:cNvSpPr txBox="1"/>
          <p:nvPr/>
        </p:nvSpPr>
        <p:spPr>
          <a:xfrm>
            <a:off x="1699639" y="4193445"/>
            <a:ext cx="337881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562B0ED-39C9-4B66-A5A9-DDDEE0463A68}"/>
              </a:ext>
            </a:extLst>
          </p:cNvPr>
          <p:cNvSpPr/>
          <p:nvPr/>
        </p:nvSpPr>
        <p:spPr>
          <a:xfrm>
            <a:off x="6514576" y="5104659"/>
            <a:ext cx="914400" cy="3725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가입하기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EE52C2-9A44-4707-B37C-6FEA7A4DC11C}"/>
              </a:ext>
            </a:extLst>
          </p:cNvPr>
          <p:cNvSpPr txBox="1"/>
          <p:nvPr/>
        </p:nvSpPr>
        <p:spPr>
          <a:xfrm>
            <a:off x="748631" y="3142026"/>
            <a:ext cx="898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기업이름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C07CD2-A2F5-4A27-94A7-96E3849E35DE}"/>
              </a:ext>
            </a:extLst>
          </p:cNvPr>
          <p:cNvSpPr txBox="1"/>
          <p:nvPr/>
        </p:nvSpPr>
        <p:spPr>
          <a:xfrm>
            <a:off x="748630" y="4114161"/>
            <a:ext cx="8984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  기업</a:t>
            </a:r>
            <a:br>
              <a:rPr lang="en-US" altLang="ko-KR" sz="1400" dirty="0"/>
            </a:br>
            <a:r>
              <a:rPr lang="en-US" altLang="ko-KR" sz="1400" dirty="0"/>
              <a:t> </a:t>
            </a:r>
            <a:r>
              <a:rPr lang="ko-KR" altLang="en-US" sz="1400" dirty="0"/>
              <a:t>연락처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1E55BB-8C2B-4896-8C74-E327191AEBB4}"/>
              </a:ext>
            </a:extLst>
          </p:cNvPr>
          <p:cNvSpPr txBox="1"/>
          <p:nvPr/>
        </p:nvSpPr>
        <p:spPr>
          <a:xfrm>
            <a:off x="748630" y="3576119"/>
            <a:ext cx="8984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 사업자</a:t>
            </a:r>
            <a:br>
              <a:rPr lang="en-US" altLang="ko-KR" sz="1400" dirty="0"/>
            </a:br>
            <a:r>
              <a:rPr lang="en-US" altLang="ko-KR" sz="1400" dirty="0"/>
              <a:t>  </a:t>
            </a:r>
            <a:r>
              <a:rPr lang="ko-KR" altLang="en-US" sz="1400" dirty="0"/>
              <a:t>번호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4590F99-2304-40E7-BC33-31198BACE0E2}"/>
              </a:ext>
            </a:extLst>
          </p:cNvPr>
          <p:cNvSpPr/>
          <p:nvPr/>
        </p:nvSpPr>
        <p:spPr>
          <a:xfrm>
            <a:off x="606443" y="108041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A41348F-EB7D-4601-9559-CAEBB1F60185}"/>
              </a:ext>
            </a:extLst>
          </p:cNvPr>
          <p:cNvSpPr/>
          <p:nvPr/>
        </p:nvSpPr>
        <p:spPr>
          <a:xfrm>
            <a:off x="5177144" y="145077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endParaRPr lang="ko-KR" altLang="en-US" sz="10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F8A5365-8DD2-4448-9E33-FD7924D6D233}"/>
              </a:ext>
            </a:extLst>
          </p:cNvPr>
          <p:cNvSpPr/>
          <p:nvPr/>
        </p:nvSpPr>
        <p:spPr>
          <a:xfrm>
            <a:off x="6424989" y="500580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3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449436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DE67B57-CC40-4EB9-96D7-6431E89F8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765417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Dv-003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로그인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Dv-req-003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유저의 로그인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황준철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로그인을 위한 값을 입력하는 화면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어느 유형으로 로그인하는지 체크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입력된 값들을 가지고 로그인 기능을 실행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아이디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비밀번호 찾기와 회원가입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기업 회원가입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으로 구성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B227CF2D-9A49-4BEB-859C-A9941404BCCC}"/>
              </a:ext>
            </a:extLst>
          </p:cNvPr>
          <p:cNvSpPr/>
          <p:nvPr/>
        </p:nvSpPr>
        <p:spPr>
          <a:xfrm>
            <a:off x="1624611" y="1999695"/>
            <a:ext cx="4740677" cy="285860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810AB3-D069-4C57-BE29-ABC4BE2422F2}"/>
              </a:ext>
            </a:extLst>
          </p:cNvPr>
          <p:cNvSpPr txBox="1"/>
          <p:nvPr/>
        </p:nvSpPr>
        <p:spPr>
          <a:xfrm>
            <a:off x="2139519" y="2485746"/>
            <a:ext cx="870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아이디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D26F5B-E87A-43E9-978C-C726429412BA}"/>
              </a:ext>
            </a:extLst>
          </p:cNvPr>
          <p:cNvSpPr/>
          <p:nvPr/>
        </p:nvSpPr>
        <p:spPr>
          <a:xfrm>
            <a:off x="3160450" y="2485746"/>
            <a:ext cx="2219417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60995D-78CF-44F3-8DC9-2715A78A7662}"/>
              </a:ext>
            </a:extLst>
          </p:cNvPr>
          <p:cNvSpPr txBox="1"/>
          <p:nvPr/>
        </p:nvSpPr>
        <p:spPr>
          <a:xfrm>
            <a:off x="2090690" y="3011251"/>
            <a:ext cx="96766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비밀번호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1988609-9C3F-4737-85AA-775156055D1B}"/>
              </a:ext>
            </a:extLst>
          </p:cNvPr>
          <p:cNvSpPr/>
          <p:nvPr/>
        </p:nvSpPr>
        <p:spPr>
          <a:xfrm>
            <a:off x="3160450" y="3011251"/>
            <a:ext cx="2219417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26EF692-9709-46CF-8CE6-1DBB4255F9AA}"/>
              </a:ext>
            </a:extLst>
          </p:cNvPr>
          <p:cNvSpPr/>
          <p:nvPr/>
        </p:nvSpPr>
        <p:spPr>
          <a:xfrm>
            <a:off x="2672176" y="3756890"/>
            <a:ext cx="2645545" cy="51559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 그 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5091F8-38D9-468A-8C09-5DE9D69D8144}"/>
              </a:ext>
            </a:extLst>
          </p:cNvPr>
          <p:cNvSpPr txBox="1"/>
          <p:nvPr/>
        </p:nvSpPr>
        <p:spPr>
          <a:xfrm>
            <a:off x="3734606" y="443357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accent5"/>
                </a:solidFill>
              </a:rPr>
              <a:t>회원가입</a:t>
            </a:r>
            <a:endParaRPr lang="ko-KR" altLang="en-US" dirty="0">
              <a:solidFill>
                <a:schemeClr val="accent5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259DB1-1E99-44CF-B011-E9CF070D5BE2}"/>
              </a:ext>
            </a:extLst>
          </p:cNvPr>
          <p:cNvSpPr txBox="1"/>
          <p:nvPr/>
        </p:nvSpPr>
        <p:spPr>
          <a:xfrm>
            <a:off x="1901423" y="4427863"/>
            <a:ext cx="16850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accent5"/>
                </a:solidFill>
              </a:rPr>
              <a:t>아이디</a:t>
            </a:r>
            <a:r>
              <a:rPr lang="en-US" altLang="ko-KR" sz="1200" dirty="0">
                <a:solidFill>
                  <a:schemeClr val="accent5"/>
                </a:solidFill>
              </a:rPr>
              <a:t>/</a:t>
            </a:r>
            <a:r>
              <a:rPr lang="ko-KR" altLang="en-US" sz="1200" dirty="0">
                <a:solidFill>
                  <a:schemeClr val="accent5"/>
                </a:solidFill>
              </a:rPr>
              <a:t>비밀번호 찾기</a:t>
            </a:r>
          </a:p>
        </p:txBody>
      </p:sp>
      <p:sp>
        <p:nvSpPr>
          <p:cNvPr id="2" name="원형: 비어 있음 1">
            <a:extLst>
              <a:ext uri="{FF2B5EF4-FFF2-40B4-BE49-F238E27FC236}">
                <a16:creationId xmlns:a16="http://schemas.microsoft.com/office/drawing/2014/main" id="{C23F3D30-33AF-4F2A-886E-8539A6B0785D}"/>
              </a:ext>
            </a:extLst>
          </p:cNvPr>
          <p:cNvSpPr/>
          <p:nvPr/>
        </p:nvSpPr>
        <p:spPr>
          <a:xfrm>
            <a:off x="3069191" y="3488828"/>
            <a:ext cx="173116" cy="156121"/>
          </a:xfrm>
          <a:prstGeom prst="don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0CC466-776A-4CD2-A1FA-8FEADE279763}"/>
              </a:ext>
            </a:extLst>
          </p:cNvPr>
          <p:cNvSpPr txBox="1"/>
          <p:nvPr/>
        </p:nvSpPr>
        <p:spPr>
          <a:xfrm>
            <a:off x="3171002" y="3451472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유저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296BDD5-A10D-4C7D-8A74-2A43F64949E4}"/>
              </a:ext>
            </a:extLst>
          </p:cNvPr>
          <p:cNvSpPr/>
          <p:nvPr/>
        </p:nvSpPr>
        <p:spPr>
          <a:xfrm>
            <a:off x="3108638" y="3526327"/>
            <a:ext cx="97417" cy="848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6D55B49-4FCF-4DE1-8F3C-17781E036DEA}"/>
              </a:ext>
            </a:extLst>
          </p:cNvPr>
          <p:cNvSpPr/>
          <p:nvPr/>
        </p:nvSpPr>
        <p:spPr>
          <a:xfrm>
            <a:off x="4349206" y="3511470"/>
            <a:ext cx="125992" cy="11083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33EC54-1D48-43EE-8875-D8BFACC6A19B}"/>
              </a:ext>
            </a:extLst>
          </p:cNvPr>
          <p:cNvSpPr txBox="1"/>
          <p:nvPr/>
        </p:nvSpPr>
        <p:spPr>
          <a:xfrm>
            <a:off x="4423952" y="3458766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기업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42900C-1A45-4284-A8A0-8D2F98EFFAA2}"/>
              </a:ext>
            </a:extLst>
          </p:cNvPr>
          <p:cNvSpPr txBox="1"/>
          <p:nvPr/>
        </p:nvSpPr>
        <p:spPr>
          <a:xfrm>
            <a:off x="4682931" y="4427862"/>
            <a:ext cx="11785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chemeClr val="accent5"/>
                </a:solidFill>
              </a:rPr>
              <a:t>기업이신가요</a:t>
            </a:r>
            <a:r>
              <a:rPr lang="en-US" altLang="ko-KR" sz="1200" dirty="0">
                <a:solidFill>
                  <a:schemeClr val="accent5"/>
                </a:solidFill>
              </a:rPr>
              <a:t>?</a:t>
            </a:r>
            <a:endParaRPr lang="ko-KR" altLang="en-US" dirty="0">
              <a:solidFill>
                <a:schemeClr val="accent5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8FB96D7-C500-46BC-9601-0A9DE88A237B}"/>
              </a:ext>
            </a:extLst>
          </p:cNvPr>
          <p:cNvSpPr/>
          <p:nvPr/>
        </p:nvSpPr>
        <p:spPr>
          <a:xfrm>
            <a:off x="1535024" y="190084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1F2C478-AA50-4949-8B9D-DAF03969AB21}"/>
              </a:ext>
            </a:extLst>
          </p:cNvPr>
          <p:cNvSpPr/>
          <p:nvPr/>
        </p:nvSpPr>
        <p:spPr>
          <a:xfrm>
            <a:off x="2911093" y="3261059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046538-541E-4958-8D94-250CD41B9F15}"/>
              </a:ext>
            </a:extLst>
          </p:cNvPr>
          <p:cNvSpPr txBox="1"/>
          <p:nvPr/>
        </p:nvSpPr>
        <p:spPr>
          <a:xfrm>
            <a:off x="3009530" y="3380583"/>
            <a:ext cx="192645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CD6495D-5185-429B-9B24-A1A7A56AB779}"/>
              </a:ext>
            </a:extLst>
          </p:cNvPr>
          <p:cNvSpPr/>
          <p:nvPr/>
        </p:nvSpPr>
        <p:spPr>
          <a:xfrm>
            <a:off x="2582589" y="3654549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3</a:t>
            </a:r>
            <a:endParaRPr lang="ko-KR" alt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601550-1C5B-49E9-8C43-A61A2086F760}"/>
              </a:ext>
            </a:extLst>
          </p:cNvPr>
          <p:cNvSpPr txBox="1"/>
          <p:nvPr/>
        </p:nvSpPr>
        <p:spPr>
          <a:xfrm>
            <a:off x="1808152" y="4358429"/>
            <a:ext cx="428784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D4120E7-6EEA-4C30-A52A-3A99CEDB3E9C}"/>
              </a:ext>
            </a:extLst>
          </p:cNvPr>
          <p:cNvSpPr/>
          <p:nvPr/>
        </p:nvSpPr>
        <p:spPr>
          <a:xfrm>
            <a:off x="1722250" y="427248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508533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DE67B57-CC40-4EB9-96D7-6431E89F8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271280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Dv-004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마이페이지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Dv-req-004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유저의 정보를 보여주는 마이페이지에서 유저 개인의 정보를 보여주고 수정할 수 있는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사이트 이용자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황준철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마이페이지 내의 항목들을 표시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유저의 정보를 전부 보여주는 화면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회색 창은 수정 불가능한 창을 의미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2D3B211A-A602-4D4F-BAB2-5E4B5C2B0CC0}"/>
              </a:ext>
            </a:extLst>
          </p:cNvPr>
          <p:cNvSpPr/>
          <p:nvPr/>
        </p:nvSpPr>
        <p:spPr>
          <a:xfrm>
            <a:off x="781233" y="894424"/>
            <a:ext cx="7146526" cy="53377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4B6D3E-4A13-4BFB-B910-3327A44E33C0}"/>
              </a:ext>
            </a:extLst>
          </p:cNvPr>
          <p:cNvSpPr txBox="1"/>
          <p:nvPr/>
        </p:nvSpPr>
        <p:spPr>
          <a:xfrm>
            <a:off x="949912" y="1473693"/>
            <a:ext cx="1322771" cy="861774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나의정보</a:t>
            </a:r>
            <a:endParaRPr lang="en-US" altLang="ko-KR" sz="1400" dirty="0"/>
          </a:p>
          <a:p>
            <a:r>
              <a:rPr lang="ko-KR" altLang="en-US" sz="1200" dirty="0" err="1"/>
              <a:t>ㄴ</a:t>
            </a:r>
            <a:r>
              <a:rPr lang="ko-KR" altLang="en-US" sz="1200" dirty="0"/>
              <a:t> 정보 수정</a:t>
            </a:r>
            <a:endParaRPr lang="en-US" altLang="ko-KR" sz="1200" dirty="0"/>
          </a:p>
          <a:p>
            <a:r>
              <a:rPr lang="ko-KR" altLang="en-US" sz="1200" dirty="0" err="1"/>
              <a:t>ㄴ</a:t>
            </a:r>
            <a:r>
              <a:rPr lang="ko-KR" altLang="en-US" sz="1200" dirty="0"/>
              <a:t> 나의 이력</a:t>
            </a:r>
            <a:endParaRPr lang="en-US" altLang="ko-KR" sz="1200" dirty="0"/>
          </a:p>
          <a:p>
            <a:r>
              <a:rPr lang="ko-KR" altLang="en-US" sz="1200" dirty="0" err="1"/>
              <a:t>ㄴ</a:t>
            </a:r>
            <a:r>
              <a:rPr lang="ko-KR" altLang="en-US" sz="1200" dirty="0"/>
              <a:t> </a:t>
            </a:r>
            <a:r>
              <a:rPr lang="ko-KR" altLang="en-US" sz="1050" dirty="0"/>
              <a:t>구인 신청 이력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D3C517-7D2C-473B-B88E-FA144F2DE7B9}"/>
              </a:ext>
            </a:extLst>
          </p:cNvPr>
          <p:cNvSpPr txBox="1"/>
          <p:nvPr/>
        </p:nvSpPr>
        <p:spPr>
          <a:xfrm>
            <a:off x="949912" y="2335467"/>
            <a:ext cx="1322771" cy="30777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마이 프로젝트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A1C18F-B745-419E-B145-9BE805E0E252}"/>
              </a:ext>
            </a:extLst>
          </p:cNvPr>
          <p:cNvSpPr txBox="1"/>
          <p:nvPr/>
        </p:nvSpPr>
        <p:spPr>
          <a:xfrm>
            <a:off x="949912" y="2643244"/>
            <a:ext cx="1322771" cy="30777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마이 스터디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398DA25-3D3E-4711-8864-2099CE88117D}"/>
              </a:ext>
            </a:extLst>
          </p:cNvPr>
          <p:cNvSpPr/>
          <p:nvPr/>
        </p:nvSpPr>
        <p:spPr>
          <a:xfrm>
            <a:off x="2441362" y="1473693"/>
            <a:ext cx="5131293" cy="4305670"/>
          </a:xfrm>
          <a:prstGeom prst="roundRect">
            <a:avLst>
              <a:gd name="adj" fmla="val 4296"/>
            </a:avLst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104D9A-5D4F-41F3-B93C-488F285B0C5E}"/>
              </a:ext>
            </a:extLst>
          </p:cNvPr>
          <p:cNvSpPr txBox="1"/>
          <p:nvPr/>
        </p:nvSpPr>
        <p:spPr>
          <a:xfrm>
            <a:off x="2869562" y="1627581"/>
            <a:ext cx="717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아이디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AFA719E-9002-4310-AC8C-859DD9F55ED9}"/>
              </a:ext>
            </a:extLst>
          </p:cNvPr>
          <p:cNvSpPr/>
          <p:nvPr/>
        </p:nvSpPr>
        <p:spPr>
          <a:xfrm>
            <a:off x="3609999" y="1627581"/>
            <a:ext cx="1263842" cy="307777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93F175-40EA-4AA3-8243-105A3C8D2B52}"/>
              </a:ext>
            </a:extLst>
          </p:cNvPr>
          <p:cNvSpPr txBox="1"/>
          <p:nvPr/>
        </p:nvSpPr>
        <p:spPr>
          <a:xfrm>
            <a:off x="2869562" y="2124777"/>
            <a:ext cx="717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닉네임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6A9789F-79F9-4110-8B5A-4F179CC67145}"/>
              </a:ext>
            </a:extLst>
          </p:cNvPr>
          <p:cNvSpPr/>
          <p:nvPr/>
        </p:nvSpPr>
        <p:spPr>
          <a:xfrm>
            <a:off x="3609999" y="2112930"/>
            <a:ext cx="1263842" cy="3077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B4FF9C-D40D-45F3-ABC1-9C18493479EE}"/>
              </a:ext>
            </a:extLst>
          </p:cNvPr>
          <p:cNvSpPr txBox="1"/>
          <p:nvPr/>
        </p:nvSpPr>
        <p:spPr>
          <a:xfrm>
            <a:off x="2837645" y="2610804"/>
            <a:ext cx="834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비밀번호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B83FBB9-0A42-494C-A574-A71C5097170B}"/>
              </a:ext>
            </a:extLst>
          </p:cNvPr>
          <p:cNvSpPr/>
          <p:nvPr/>
        </p:nvSpPr>
        <p:spPr>
          <a:xfrm>
            <a:off x="3609999" y="2598279"/>
            <a:ext cx="1263842" cy="3077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599B73-7419-4EE7-9681-8B1820716AD4}"/>
              </a:ext>
            </a:extLst>
          </p:cNvPr>
          <p:cNvSpPr txBox="1"/>
          <p:nvPr/>
        </p:nvSpPr>
        <p:spPr>
          <a:xfrm>
            <a:off x="2869562" y="3107322"/>
            <a:ext cx="717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 이름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5DE10CA-2BBD-455A-816A-15F6B7273222}"/>
              </a:ext>
            </a:extLst>
          </p:cNvPr>
          <p:cNvSpPr/>
          <p:nvPr/>
        </p:nvSpPr>
        <p:spPr>
          <a:xfrm>
            <a:off x="3609999" y="3095475"/>
            <a:ext cx="1263842" cy="3077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0E3CA86-5934-43C4-A9E9-DD64AA872A9B}"/>
              </a:ext>
            </a:extLst>
          </p:cNvPr>
          <p:cNvSpPr/>
          <p:nvPr/>
        </p:nvSpPr>
        <p:spPr>
          <a:xfrm>
            <a:off x="3609999" y="3591069"/>
            <a:ext cx="1263842" cy="3077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1E5E94-ACC8-40CF-81A8-A4E9A66A6ECF}"/>
              </a:ext>
            </a:extLst>
          </p:cNvPr>
          <p:cNvSpPr txBox="1"/>
          <p:nvPr/>
        </p:nvSpPr>
        <p:spPr>
          <a:xfrm>
            <a:off x="2869562" y="3591068"/>
            <a:ext cx="717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이메일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AF14FD-F0BA-4F13-B99F-939D0F6BA885}"/>
              </a:ext>
            </a:extLst>
          </p:cNvPr>
          <p:cNvSpPr/>
          <p:nvPr/>
        </p:nvSpPr>
        <p:spPr>
          <a:xfrm>
            <a:off x="3609999" y="4098510"/>
            <a:ext cx="1263842" cy="3077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4ADCF6-34C9-4E18-8A60-4213421A7A3A}"/>
              </a:ext>
            </a:extLst>
          </p:cNvPr>
          <p:cNvSpPr txBox="1"/>
          <p:nvPr/>
        </p:nvSpPr>
        <p:spPr>
          <a:xfrm>
            <a:off x="2837645" y="4113898"/>
            <a:ext cx="834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전화번호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383133-5BAF-47A4-A878-BAFC23BE0548}"/>
              </a:ext>
            </a:extLst>
          </p:cNvPr>
          <p:cNvSpPr txBox="1"/>
          <p:nvPr/>
        </p:nvSpPr>
        <p:spPr>
          <a:xfrm>
            <a:off x="949912" y="2951021"/>
            <a:ext cx="1322771" cy="30777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포인트 충전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A0E99F-5054-4FDC-8AD3-EAF8FDD11D81}"/>
              </a:ext>
            </a:extLst>
          </p:cNvPr>
          <p:cNvSpPr txBox="1"/>
          <p:nvPr/>
        </p:nvSpPr>
        <p:spPr>
          <a:xfrm>
            <a:off x="5042520" y="1639427"/>
            <a:ext cx="717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 등급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9AF8577-3FD7-4707-8A43-8073D460CE97}"/>
              </a:ext>
            </a:extLst>
          </p:cNvPr>
          <p:cNvSpPr/>
          <p:nvPr/>
        </p:nvSpPr>
        <p:spPr>
          <a:xfrm>
            <a:off x="5782957" y="1639427"/>
            <a:ext cx="1263842" cy="307777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9BF319-9D74-42B2-96D6-3D9ABDE4AEBB}"/>
              </a:ext>
            </a:extLst>
          </p:cNvPr>
          <p:cNvSpPr txBox="1"/>
          <p:nvPr/>
        </p:nvSpPr>
        <p:spPr>
          <a:xfrm>
            <a:off x="5048438" y="2101093"/>
            <a:ext cx="717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포인트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74F034E-CF0E-426A-8205-B8B2D15DDBD2}"/>
              </a:ext>
            </a:extLst>
          </p:cNvPr>
          <p:cNvSpPr/>
          <p:nvPr/>
        </p:nvSpPr>
        <p:spPr>
          <a:xfrm>
            <a:off x="5788875" y="2101093"/>
            <a:ext cx="1263842" cy="307777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B3F1096-2F52-4485-88B9-9AFFB2A18A8D}"/>
              </a:ext>
            </a:extLst>
          </p:cNvPr>
          <p:cNvSpPr/>
          <p:nvPr/>
        </p:nvSpPr>
        <p:spPr>
          <a:xfrm>
            <a:off x="860325" y="137668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B55B43B-15C7-4F70-99B7-4A4F3C9F43A6}"/>
              </a:ext>
            </a:extLst>
          </p:cNvPr>
          <p:cNvSpPr/>
          <p:nvPr/>
        </p:nvSpPr>
        <p:spPr>
          <a:xfrm>
            <a:off x="2424871" y="1429874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812541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DE67B57-CC40-4EB9-96D7-6431E89F8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247830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Dv-005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마이페이지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Dv-req-004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마이페이지에서 자신의 자격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프로젝트 참여이력 등을 추가할 수 있는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황준철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마이페이지 내의 항목들을 표시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자신이 지금까지 팀장으로서 모집했던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스터디와 프로젝트의 목록을 보여줌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1017D76-A8BE-4B7A-8FD3-1A2760FD3B0D}"/>
              </a:ext>
            </a:extLst>
          </p:cNvPr>
          <p:cNvSpPr/>
          <p:nvPr/>
        </p:nvSpPr>
        <p:spPr>
          <a:xfrm>
            <a:off x="781233" y="894424"/>
            <a:ext cx="7146526" cy="53377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8E8324D-211B-421D-AD28-9C0A6F8E39A7}"/>
              </a:ext>
            </a:extLst>
          </p:cNvPr>
          <p:cNvSpPr/>
          <p:nvPr/>
        </p:nvSpPr>
        <p:spPr>
          <a:xfrm>
            <a:off x="2441362" y="1473693"/>
            <a:ext cx="5131293" cy="4305670"/>
          </a:xfrm>
          <a:prstGeom prst="roundRect">
            <a:avLst>
              <a:gd name="adj" fmla="val 4296"/>
            </a:avLst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F1B3FA-1A23-4273-8557-477F918C20FB}"/>
              </a:ext>
            </a:extLst>
          </p:cNvPr>
          <p:cNvSpPr txBox="1"/>
          <p:nvPr/>
        </p:nvSpPr>
        <p:spPr>
          <a:xfrm>
            <a:off x="2553137" y="1569925"/>
            <a:ext cx="2293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프로젝트</a:t>
            </a:r>
            <a:r>
              <a:rPr lang="en-US" altLang="ko-KR" sz="1400" dirty="0"/>
              <a:t>/</a:t>
            </a:r>
            <a:r>
              <a:rPr lang="ko-KR" altLang="en-US" sz="1400" dirty="0"/>
              <a:t>스터디 이력</a:t>
            </a:r>
            <a:endParaRPr lang="ko-KR" altLang="en-US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F3163E3-7656-4903-8B68-5DF85D1BB921}"/>
              </a:ext>
            </a:extLst>
          </p:cNvPr>
          <p:cNvSpPr/>
          <p:nvPr/>
        </p:nvSpPr>
        <p:spPr>
          <a:xfrm>
            <a:off x="2591237" y="1923544"/>
            <a:ext cx="4389120" cy="53342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86CFF0-3D59-4851-8490-3CAC56A046AC}"/>
              </a:ext>
            </a:extLst>
          </p:cNvPr>
          <p:cNvSpPr txBox="1"/>
          <p:nvPr/>
        </p:nvSpPr>
        <p:spPr>
          <a:xfrm>
            <a:off x="2640474" y="1947074"/>
            <a:ext cx="9185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프로젝트 </a:t>
            </a:r>
            <a:r>
              <a:rPr lang="ko-KR" altLang="en-US" sz="900" dirty="0"/>
              <a:t>이름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F0CCDE-EB13-4B80-8B57-A540E2DCAE44}"/>
              </a:ext>
            </a:extLst>
          </p:cNvPr>
          <p:cNvSpPr txBox="1"/>
          <p:nvPr/>
        </p:nvSpPr>
        <p:spPr>
          <a:xfrm>
            <a:off x="2640474" y="2173454"/>
            <a:ext cx="796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스터디 이름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CA58B9-CA0C-49C4-B401-4DC8240FDF5A}"/>
              </a:ext>
            </a:extLst>
          </p:cNvPr>
          <p:cNvSpPr txBox="1"/>
          <p:nvPr/>
        </p:nvSpPr>
        <p:spPr>
          <a:xfrm>
            <a:off x="3465012" y="1942622"/>
            <a:ext cx="9185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프로젝트 정보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273C8A-D9EE-4BB9-B10E-9EB505DD694B}"/>
              </a:ext>
            </a:extLst>
          </p:cNvPr>
          <p:cNvSpPr txBox="1"/>
          <p:nvPr/>
        </p:nvSpPr>
        <p:spPr>
          <a:xfrm>
            <a:off x="3437057" y="2179321"/>
            <a:ext cx="7965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스터디 정보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ED3D4E14-29B4-49ED-8E04-D6F3FF1CBCF8}"/>
              </a:ext>
            </a:extLst>
          </p:cNvPr>
          <p:cNvCxnSpPr>
            <a:cxnSpLocks/>
          </p:cNvCxnSpPr>
          <p:nvPr/>
        </p:nvCxnSpPr>
        <p:spPr>
          <a:xfrm>
            <a:off x="2619192" y="2173454"/>
            <a:ext cx="438912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9FB807E-839A-42C0-A800-A71BEDEC19BC}"/>
              </a:ext>
            </a:extLst>
          </p:cNvPr>
          <p:cNvSpPr txBox="1"/>
          <p:nvPr/>
        </p:nvSpPr>
        <p:spPr>
          <a:xfrm>
            <a:off x="949912" y="1473693"/>
            <a:ext cx="1322771" cy="861774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나의정보</a:t>
            </a:r>
            <a:endParaRPr lang="en-US" altLang="ko-KR" sz="1400" dirty="0"/>
          </a:p>
          <a:p>
            <a:r>
              <a:rPr lang="ko-KR" altLang="en-US" sz="1200" dirty="0" err="1"/>
              <a:t>ㄴ</a:t>
            </a:r>
            <a:r>
              <a:rPr lang="ko-KR" altLang="en-US" sz="1200" dirty="0"/>
              <a:t> 정보 수정</a:t>
            </a:r>
            <a:endParaRPr lang="en-US" altLang="ko-KR" sz="1200" dirty="0"/>
          </a:p>
          <a:p>
            <a:r>
              <a:rPr lang="ko-KR" altLang="en-US" sz="1200" dirty="0" err="1"/>
              <a:t>ㄴ</a:t>
            </a:r>
            <a:r>
              <a:rPr lang="ko-KR" altLang="en-US" sz="1200" dirty="0"/>
              <a:t> 나의 이력</a:t>
            </a:r>
            <a:endParaRPr lang="en-US" altLang="ko-KR" sz="1200" dirty="0"/>
          </a:p>
          <a:p>
            <a:r>
              <a:rPr lang="ko-KR" altLang="en-US" sz="1200" dirty="0" err="1"/>
              <a:t>ㄴ</a:t>
            </a:r>
            <a:r>
              <a:rPr lang="ko-KR" altLang="en-US" sz="1200" dirty="0"/>
              <a:t> </a:t>
            </a:r>
            <a:r>
              <a:rPr lang="ko-KR" altLang="en-US" sz="1050" dirty="0"/>
              <a:t>구인 신청 이력</a:t>
            </a:r>
            <a:endParaRPr lang="ko-KR" altLang="en-US" sz="12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D4E308B-F454-41CC-9F39-043BB99B56B8}"/>
              </a:ext>
            </a:extLst>
          </p:cNvPr>
          <p:cNvSpPr txBox="1"/>
          <p:nvPr/>
        </p:nvSpPr>
        <p:spPr>
          <a:xfrm>
            <a:off x="949912" y="2335467"/>
            <a:ext cx="1322771" cy="30777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마이 프로젝트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632454-C50D-4C96-9B56-82B4496DB624}"/>
              </a:ext>
            </a:extLst>
          </p:cNvPr>
          <p:cNvSpPr txBox="1"/>
          <p:nvPr/>
        </p:nvSpPr>
        <p:spPr>
          <a:xfrm>
            <a:off x="949912" y="2643244"/>
            <a:ext cx="1322771" cy="30777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마이 스터디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D9DB731-17D6-4098-AC24-8AF048784066}"/>
              </a:ext>
            </a:extLst>
          </p:cNvPr>
          <p:cNvSpPr txBox="1"/>
          <p:nvPr/>
        </p:nvSpPr>
        <p:spPr>
          <a:xfrm>
            <a:off x="949912" y="2951021"/>
            <a:ext cx="1322771" cy="30777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포인트 충전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24A6450-512A-4AE5-9AEC-6ABC3EBA4990}"/>
              </a:ext>
            </a:extLst>
          </p:cNvPr>
          <p:cNvSpPr/>
          <p:nvPr/>
        </p:nvSpPr>
        <p:spPr>
          <a:xfrm>
            <a:off x="860325" y="1374839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5A1F016-421F-4B49-BF32-C8E23C9637A8}"/>
              </a:ext>
            </a:extLst>
          </p:cNvPr>
          <p:cNvSpPr/>
          <p:nvPr/>
        </p:nvSpPr>
        <p:spPr>
          <a:xfrm>
            <a:off x="2373964" y="1374839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605731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DE67B57-CC40-4EB9-96D7-6431E89F8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638129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Dv-006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마이페이지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Dv-req-006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사용자가 구인 게시판에서 구인 신청을 보낸 이력을 보여줌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황준철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마이페이지 내의 항목들을 표시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구인페이지에서 구인신청을 한 회사들의 목록을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보여주는 화면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3C3F6ED-598A-4035-81EC-7E2E520AD7E9}"/>
              </a:ext>
            </a:extLst>
          </p:cNvPr>
          <p:cNvSpPr/>
          <p:nvPr/>
        </p:nvSpPr>
        <p:spPr>
          <a:xfrm>
            <a:off x="781233" y="894424"/>
            <a:ext cx="7146526" cy="53377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E4282-DC65-4AEA-8589-4A62699E7B0A}"/>
              </a:ext>
            </a:extLst>
          </p:cNvPr>
          <p:cNvSpPr txBox="1"/>
          <p:nvPr/>
        </p:nvSpPr>
        <p:spPr>
          <a:xfrm>
            <a:off x="949912" y="1473693"/>
            <a:ext cx="1322771" cy="67710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나의정보</a:t>
            </a:r>
            <a:endParaRPr lang="en-US" altLang="ko-KR" sz="1400" dirty="0"/>
          </a:p>
          <a:p>
            <a:r>
              <a:rPr lang="ko-KR" altLang="en-US" sz="1200" dirty="0" err="1"/>
              <a:t>ㄴ</a:t>
            </a:r>
            <a:r>
              <a:rPr lang="ko-KR" altLang="en-US" sz="1200" dirty="0"/>
              <a:t> 정보 수정</a:t>
            </a:r>
            <a:endParaRPr lang="en-US" altLang="ko-KR" sz="1200" dirty="0"/>
          </a:p>
          <a:p>
            <a:r>
              <a:rPr lang="ko-KR" altLang="en-US" sz="1200" dirty="0" err="1"/>
              <a:t>ㄴ</a:t>
            </a:r>
            <a:r>
              <a:rPr lang="ko-KR" altLang="en-US" sz="1200" dirty="0"/>
              <a:t> 나의 이력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E68C97-CFEF-497A-A163-BF16FD1CF550}"/>
              </a:ext>
            </a:extLst>
          </p:cNvPr>
          <p:cNvSpPr txBox="1"/>
          <p:nvPr/>
        </p:nvSpPr>
        <p:spPr>
          <a:xfrm>
            <a:off x="949912" y="2150801"/>
            <a:ext cx="1322771" cy="30777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마이 프로젝트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51593E-ED70-4785-8F0D-39BB8FBB1572}"/>
              </a:ext>
            </a:extLst>
          </p:cNvPr>
          <p:cNvSpPr txBox="1"/>
          <p:nvPr/>
        </p:nvSpPr>
        <p:spPr>
          <a:xfrm>
            <a:off x="949912" y="2461600"/>
            <a:ext cx="1322771" cy="30777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마이 스터디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63B443-B3AD-4FC4-BBEF-6303700DEB59}"/>
              </a:ext>
            </a:extLst>
          </p:cNvPr>
          <p:cNvSpPr txBox="1"/>
          <p:nvPr/>
        </p:nvSpPr>
        <p:spPr>
          <a:xfrm>
            <a:off x="949912" y="2769377"/>
            <a:ext cx="1322771" cy="30777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포인트 충전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D631455-FE6B-4459-8358-A770A872AE62}"/>
              </a:ext>
            </a:extLst>
          </p:cNvPr>
          <p:cNvSpPr/>
          <p:nvPr/>
        </p:nvSpPr>
        <p:spPr>
          <a:xfrm>
            <a:off x="2441362" y="1473693"/>
            <a:ext cx="5131293" cy="4305670"/>
          </a:xfrm>
          <a:prstGeom prst="roundRect">
            <a:avLst>
              <a:gd name="adj" fmla="val 4296"/>
            </a:avLst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B941E3-82FD-4609-9FC8-E9A6F6251A9E}"/>
              </a:ext>
            </a:extLst>
          </p:cNvPr>
          <p:cNvSpPr txBox="1"/>
          <p:nvPr/>
        </p:nvSpPr>
        <p:spPr>
          <a:xfrm>
            <a:off x="2576452" y="1535248"/>
            <a:ext cx="2712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구직 신청 이력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2CB4F10-AF3D-421B-A203-5307832AD8E4}"/>
              </a:ext>
            </a:extLst>
          </p:cNvPr>
          <p:cNvCxnSpPr/>
          <p:nvPr/>
        </p:nvCxnSpPr>
        <p:spPr>
          <a:xfrm>
            <a:off x="2590800" y="1812247"/>
            <a:ext cx="46939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1A0D721-420D-43EA-AF12-D9A0D7F6375E}"/>
              </a:ext>
            </a:extLst>
          </p:cNvPr>
          <p:cNvSpPr txBox="1"/>
          <p:nvPr/>
        </p:nvSpPr>
        <p:spPr>
          <a:xfrm>
            <a:off x="949912" y="1473693"/>
            <a:ext cx="1322771" cy="861774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나의정보</a:t>
            </a:r>
            <a:endParaRPr lang="en-US" altLang="ko-KR" sz="1400" dirty="0"/>
          </a:p>
          <a:p>
            <a:r>
              <a:rPr lang="ko-KR" altLang="en-US" sz="1200" dirty="0" err="1"/>
              <a:t>ㄴ</a:t>
            </a:r>
            <a:r>
              <a:rPr lang="ko-KR" altLang="en-US" sz="1200" dirty="0"/>
              <a:t> 정보 수정</a:t>
            </a:r>
            <a:endParaRPr lang="en-US" altLang="ko-KR" sz="1200" dirty="0"/>
          </a:p>
          <a:p>
            <a:r>
              <a:rPr lang="ko-KR" altLang="en-US" sz="1200" dirty="0" err="1"/>
              <a:t>ㄴ</a:t>
            </a:r>
            <a:r>
              <a:rPr lang="ko-KR" altLang="en-US" sz="1200" dirty="0"/>
              <a:t> 나의 이력</a:t>
            </a:r>
            <a:endParaRPr lang="en-US" altLang="ko-KR" sz="1200" dirty="0"/>
          </a:p>
          <a:p>
            <a:r>
              <a:rPr lang="ko-KR" altLang="en-US" sz="1200" dirty="0" err="1"/>
              <a:t>ㄴ</a:t>
            </a:r>
            <a:r>
              <a:rPr lang="ko-KR" altLang="en-US" sz="1200" dirty="0"/>
              <a:t> </a:t>
            </a:r>
            <a:r>
              <a:rPr lang="ko-KR" altLang="en-US" sz="1050" dirty="0"/>
              <a:t>구인 신청 이력</a:t>
            </a:r>
            <a:endParaRPr lang="ko-KR" alt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D82E39-4C15-4C58-BEB1-82F65F143055}"/>
              </a:ext>
            </a:extLst>
          </p:cNvPr>
          <p:cNvSpPr txBox="1"/>
          <p:nvPr/>
        </p:nvSpPr>
        <p:spPr>
          <a:xfrm>
            <a:off x="949912" y="2335467"/>
            <a:ext cx="1322771" cy="30777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마이 프로젝트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70137D-4A70-4938-8BB0-5EBF92341EB3}"/>
              </a:ext>
            </a:extLst>
          </p:cNvPr>
          <p:cNvSpPr txBox="1"/>
          <p:nvPr/>
        </p:nvSpPr>
        <p:spPr>
          <a:xfrm>
            <a:off x="949912" y="2643244"/>
            <a:ext cx="1322771" cy="30777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마이 스터디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B63A90-BF01-4A5C-A544-C096A3A3C7C1}"/>
              </a:ext>
            </a:extLst>
          </p:cNvPr>
          <p:cNvSpPr txBox="1"/>
          <p:nvPr/>
        </p:nvSpPr>
        <p:spPr>
          <a:xfrm>
            <a:off x="949912" y="2951021"/>
            <a:ext cx="1322771" cy="30777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포인트 충전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6DB43B-F186-4451-A182-91C3DD4567D4}"/>
              </a:ext>
            </a:extLst>
          </p:cNvPr>
          <p:cNvSpPr txBox="1"/>
          <p:nvPr/>
        </p:nvSpPr>
        <p:spPr>
          <a:xfrm>
            <a:off x="2576452" y="1932596"/>
            <a:ext cx="1163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신청 회사 이름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E3E0AB-88B7-4D9B-912D-9255C4AC95DE}"/>
              </a:ext>
            </a:extLst>
          </p:cNvPr>
          <p:cNvSpPr txBox="1"/>
          <p:nvPr/>
        </p:nvSpPr>
        <p:spPr>
          <a:xfrm>
            <a:off x="3740233" y="1936288"/>
            <a:ext cx="1163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신청 일자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B9672C8-24D5-49FA-ADB2-AD8E92AC897B}"/>
              </a:ext>
            </a:extLst>
          </p:cNvPr>
          <p:cNvSpPr/>
          <p:nvPr/>
        </p:nvSpPr>
        <p:spPr>
          <a:xfrm>
            <a:off x="860325" y="1374839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5CD92EE-918A-4994-847F-58A832564CB3}"/>
              </a:ext>
            </a:extLst>
          </p:cNvPr>
          <p:cNvSpPr/>
          <p:nvPr/>
        </p:nvSpPr>
        <p:spPr>
          <a:xfrm>
            <a:off x="2397279" y="1377244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921711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DE67B57-CC40-4EB9-96D7-6431E89F8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229867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Dv-007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마이페이지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Dv-req-007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사용자의 프로젝트 신청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모집 현황 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참여중인 프로젝트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종료된 프로젝트의 목록을 보여줌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황준철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마이페이지 내의 항목들을 표시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유저가 현재 참여중인 프로젝트와 신청 혹은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모집이 진행중인 프로젝트들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참여하여 종료가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된 프로젝트들의 목록을 보여주는 화면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3C3F6ED-598A-4035-81EC-7E2E520AD7E9}"/>
              </a:ext>
            </a:extLst>
          </p:cNvPr>
          <p:cNvSpPr/>
          <p:nvPr/>
        </p:nvSpPr>
        <p:spPr>
          <a:xfrm>
            <a:off x="781233" y="894424"/>
            <a:ext cx="7146526" cy="53377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E4282-DC65-4AEA-8589-4A62699E7B0A}"/>
              </a:ext>
            </a:extLst>
          </p:cNvPr>
          <p:cNvSpPr txBox="1"/>
          <p:nvPr/>
        </p:nvSpPr>
        <p:spPr>
          <a:xfrm>
            <a:off x="949912" y="1473693"/>
            <a:ext cx="1322771" cy="67710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나의정보</a:t>
            </a:r>
            <a:endParaRPr lang="en-US" altLang="ko-KR" sz="1400" dirty="0"/>
          </a:p>
          <a:p>
            <a:r>
              <a:rPr lang="ko-KR" altLang="en-US" sz="1200" dirty="0" err="1"/>
              <a:t>ㄴ</a:t>
            </a:r>
            <a:r>
              <a:rPr lang="ko-KR" altLang="en-US" sz="1200" dirty="0"/>
              <a:t> 정보 수정</a:t>
            </a:r>
            <a:endParaRPr lang="en-US" altLang="ko-KR" sz="1200" dirty="0"/>
          </a:p>
          <a:p>
            <a:r>
              <a:rPr lang="ko-KR" altLang="en-US" sz="1200" dirty="0" err="1"/>
              <a:t>ㄴ</a:t>
            </a:r>
            <a:r>
              <a:rPr lang="ko-KR" altLang="en-US" sz="1200" dirty="0"/>
              <a:t> 나의 이력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E68C97-CFEF-497A-A163-BF16FD1CF550}"/>
              </a:ext>
            </a:extLst>
          </p:cNvPr>
          <p:cNvSpPr txBox="1"/>
          <p:nvPr/>
        </p:nvSpPr>
        <p:spPr>
          <a:xfrm>
            <a:off x="949912" y="2150801"/>
            <a:ext cx="1322771" cy="30777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마이 프로젝트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51593E-ED70-4785-8F0D-39BB8FBB1572}"/>
              </a:ext>
            </a:extLst>
          </p:cNvPr>
          <p:cNvSpPr txBox="1"/>
          <p:nvPr/>
        </p:nvSpPr>
        <p:spPr>
          <a:xfrm>
            <a:off x="949912" y="2461600"/>
            <a:ext cx="1322771" cy="30777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마이 스터디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63B443-B3AD-4FC4-BBEF-6303700DEB59}"/>
              </a:ext>
            </a:extLst>
          </p:cNvPr>
          <p:cNvSpPr txBox="1"/>
          <p:nvPr/>
        </p:nvSpPr>
        <p:spPr>
          <a:xfrm>
            <a:off x="949912" y="2769377"/>
            <a:ext cx="1322771" cy="30777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포인트 충전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D631455-FE6B-4459-8358-A770A872AE62}"/>
              </a:ext>
            </a:extLst>
          </p:cNvPr>
          <p:cNvSpPr/>
          <p:nvPr/>
        </p:nvSpPr>
        <p:spPr>
          <a:xfrm>
            <a:off x="2441362" y="1473693"/>
            <a:ext cx="5131293" cy="4305670"/>
          </a:xfrm>
          <a:prstGeom prst="roundRect">
            <a:avLst>
              <a:gd name="adj" fmla="val 4296"/>
            </a:avLst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B941E3-82FD-4609-9FC8-E9A6F6251A9E}"/>
              </a:ext>
            </a:extLst>
          </p:cNvPr>
          <p:cNvSpPr txBox="1"/>
          <p:nvPr/>
        </p:nvSpPr>
        <p:spPr>
          <a:xfrm>
            <a:off x="2576452" y="1535248"/>
            <a:ext cx="2712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참여중인 프로젝트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2CB4F10-AF3D-421B-A203-5307832AD8E4}"/>
              </a:ext>
            </a:extLst>
          </p:cNvPr>
          <p:cNvCxnSpPr/>
          <p:nvPr/>
        </p:nvCxnSpPr>
        <p:spPr>
          <a:xfrm>
            <a:off x="2590800" y="1812247"/>
            <a:ext cx="46939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1D81488-4385-4E18-B0A9-75ABCE6D9F66}"/>
              </a:ext>
            </a:extLst>
          </p:cNvPr>
          <p:cNvSpPr txBox="1"/>
          <p:nvPr/>
        </p:nvSpPr>
        <p:spPr>
          <a:xfrm>
            <a:off x="2576452" y="2391516"/>
            <a:ext cx="2712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신청</a:t>
            </a:r>
            <a:r>
              <a:rPr lang="en-US" altLang="ko-KR" sz="1200" dirty="0"/>
              <a:t>/</a:t>
            </a:r>
            <a:r>
              <a:rPr lang="ko-KR" altLang="en-US" sz="1200" dirty="0"/>
              <a:t>모집 프로젝트 현황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B328307-D832-4244-98D5-D386C9F0D72B}"/>
              </a:ext>
            </a:extLst>
          </p:cNvPr>
          <p:cNvCxnSpPr/>
          <p:nvPr/>
        </p:nvCxnSpPr>
        <p:spPr>
          <a:xfrm>
            <a:off x="2590800" y="2668515"/>
            <a:ext cx="46939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DA1B86F-737B-48C2-BD53-95BE67A4FF53}"/>
              </a:ext>
            </a:extLst>
          </p:cNvPr>
          <p:cNvSpPr txBox="1"/>
          <p:nvPr/>
        </p:nvSpPr>
        <p:spPr>
          <a:xfrm>
            <a:off x="2576452" y="3524782"/>
            <a:ext cx="2712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종료 프로젝트 목록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D75636D-2690-4B83-A5E1-EC527C5DD726}"/>
              </a:ext>
            </a:extLst>
          </p:cNvPr>
          <p:cNvCxnSpPr/>
          <p:nvPr/>
        </p:nvCxnSpPr>
        <p:spPr>
          <a:xfrm>
            <a:off x="2590800" y="3801781"/>
            <a:ext cx="46939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2C4FA10-B5F6-4129-880B-3A9744205415}"/>
              </a:ext>
            </a:extLst>
          </p:cNvPr>
          <p:cNvSpPr txBox="1"/>
          <p:nvPr/>
        </p:nvSpPr>
        <p:spPr>
          <a:xfrm>
            <a:off x="2576452" y="1889208"/>
            <a:ext cx="47082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내용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557ADE-2A93-4F4D-86F4-6C07583D933F}"/>
              </a:ext>
            </a:extLst>
          </p:cNvPr>
          <p:cNvSpPr txBox="1"/>
          <p:nvPr/>
        </p:nvSpPr>
        <p:spPr>
          <a:xfrm>
            <a:off x="2576452" y="2109575"/>
            <a:ext cx="47082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내용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2692AA-7FCD-4299-A971-39D9179A9FCC}"/>
              </a:ext>
            </a:extLst>
          </p:cNvPr>
          <p:cNvSpPr txBox="1"/>
          <p:nvPr/>
        </p:nvSpPr>
        <p:spPr>
          <a:xfrm>
            <a:off x="2576452" y="2731751"/>
            <a:ext cx="47082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내용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81BC49-94A0-4B5D-A3F5-38A28FD61CA0}"/>
              </a:ext>
            </a:extLst>
          </p:cNvPr>
          <p:cNvSpPr txBox="1"/>
          <p:nvPr/>
        </p:nvSpPr>
        <p:spPr>
          <a:xfrm>
            <a:off x="2576452" y="2997461"/>
            <a:ext cx="47082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내용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C1D0DB-DFD1-4233-BB43-F6697EE63887}"/>
              </a:ext>
            </a:extLst>
          </p:cNvPr>
          <p:cNvSpPr txBox="1"/>
          <p:nvPr/>
        </p:nvSpPr>
        <p:spPr>
          <a:xfrm>
            <a:off x="2576452" y="3897356"/>
            <a:ext cx="47082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내용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9D27A2-B1F2-41EE-9F98-669884C884F5}"/>
              </a:ext>
            </a:extLst>
          </p:cNvPr>
          <p:cNvSpPr txBox="1"/>
          <p:nvPr/>
        </p:nvSpPr>
        <p:spPr>
          <a:xfrm>
            <a:off x="2590800" y="4158966"/>
            <a:ext cx="47082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내용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01EA1F-C95D-4173-B9B6-710685FBF73E}"/>
              </a:ext>
            </a:extLst>
          </p:cNvPr>
          <p:cNvSpPr txBox="1"/>
          <p:nvPr/>
        </p:nvSpPr>
        <p:spPr>
          <a:xfrm>
            <a:off x="2590800" y="4426792"/>
            <a:ext cx="47082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내용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13880D-9A93-4575-AB4E-58159681B43E}"/>
              </a:ext>
            </a:extLst>
          </p:cNvPr>
          <p:cNvSpPr txBox="1"/>
          <p:nvPr/>
        </p:nvSpPr>
        <p:spPr>
          <a:xfrm>
            <a:off x="949912" y="1473693"/>
            <a:ext cx="1322771" cy="861774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나의정보</a:t>
            </a:r>
            <a:endParaRPr lang="en-US" altLang="ko-KR" sz="1400" dirty="0"/>
          </a:p>
          <a:p>
            <a:r>
              <a:rPr lang="ko-KR" altLang="en-US" sz="1200" dirty="0" err="1"/>
              <a:t>ㄴ</a:t>
            </a:r>
            <a:r>
              <a:rPr lang="ko-KR" altLang="en-US" sz="1200" dirty="0"/>
              <a:t> 정보 수정</a:t>
            </a:r>
            <a:endParaRPr lang="en-US" altLang="ko-KR" sz="1200" dirty="0"/>
          </a:p>
          <a:p>
            <a:r>
              <a:rPr lang="ko-KR" altLang="en-US" sz="1200" dirty="0" err="1"/>
              <a:t>ㄴ</a:t>
            </a:r>
            <a:r>
              <a:rPr lang="ko-KR" altLang="en-US" sz="1200" dirty="0"/>
              <a:t> 나의 이력</a:t>
            </a:r>
            <a:endParaRPr lang="en-US" altLang="ko-KR" sz="1200" dirty="0"/>
          </a:p>
          <a:p>
            <a:r>
              <a:rPr lang="ko-KR" altLang="en-US" sz="1200" dirty="0" err="1"/>
              <a:t>ㄴ</a:t>
            </a:r>
            <a:r>
              <a:rPr lang="ko-KR" altLang="en-US" sz="1200" dirty="0"/>
              <a:t> </a:t>
            </a:r>
            <a:r>
              <a:rPr lang="ko-KR" altLang="en-US" sz="1050" dirty="0"/>
              <a:t>구인 신청 이력</a:t>
            </a:r>
            <a:endParaRPr lang="ko-KR" alt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4FC2C1-AAE5-4906-9C9C-38A914698D11}"/>
              </a:ext>
            </a:extLst>
          </p:cNvPr>
          <p:cNvSpPr txBox="1"/>
          <p:nvPr/>
        </p:nvSpPr>
        <p:spPr>
          <a:xfrm>
            <a:off x="949912" y="2335467"/>
            <a:ext cx="1322771" cy="30777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마이 프로젝트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308839-034C-4FEF-A0ED-CEAA04548D4A}"/>
              </a:ext>
            </a:extLst>
          </p:cNvPr>
          <p:cNvSpPr txBox="1"/>
          <p:nvPr/>
        </p:nvSpPr>
        <p:spPr>
          <a:xfrm>
            <a:off x="949912" y="2643244"/>
            <a:ext cx="1322771" cy="30777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마이 스터디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8780F3-EE91-4DA0-AA7B-58AB5AFC3F59}"/>
              </a:ext>
            </a:extLst>
          </p:cNvPr>
          <p:cNvSpPr txBox="1"/>
          <p:nvPr/>
        </p:nvSpPr>
        <p:spPr>
          <a:xfrm>
            <a:off x="949912" y="2951021"/>
            <a:ext cx="1322771" cy="30777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포인트 충전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8957F3D-E7C3-4609-8B70-9F866C9A082E}"/>
              </a:ext>
            </a:extLst>
          </p:cNvPr>
          <p:cNvSpPr/>
          <p:nvPr/>
        </p:nvSpPr>
        <p:spPr>
          <a:xfrm>
            <a:off x="860325" y="1374839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9682427-2D50-4E18-98B6-6843C008B7DF}"/>
              </a:ext>
            </a:extLst>
          </p:cNvPr>
          <p:cNvSpPr/>
          <p:nvPr/>
        </p:nvSpPr>
        <p:spPr>
          <a:xfrm>
            <a:off x="2411627" y="1373158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703008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DE67B57-CC40-4EB9-96D7-6431E89F8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321063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Dv-008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마이페이지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Dv-req-008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사용자의 스터디 신청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모집 현황 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참여중인 스터디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종료된 스터디의 목록을 보여줌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황준철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마이페이지 내의 항목들을 표시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유저가 현재 참여중인 스터디와 신청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모집이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진행중인 스터디들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스터디 기간이 끝난 스터디들의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목록을 보여주는 화면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3C3F6ED-598A-4035-81EC-7E2E520AD7E9}"/>
              </a:ext>
            </a:extLst>
          </p:cNvPr>
          <p:cNvSpPr/>
          <p:nvPr/>
        </p:nvSpPr>
        <p:spPr>
          <a:xfrm>
            <a:off x="781233" y="894424"/>
            <a:ext cx="7146526" cy="53377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E4282-DC65-4AEA-8589-4A62699E7B0A}"/>
              </a:ext>
            </a:extLst>
          </p:cNvPr>
          <p:cNvSpPr txBox="1"/>
          <p:nvPr/>
        </p:nvSpPr>
        <p:spPr>
          <a:xfrm>
            <a:off x="949912" y="1473693"/>
            <a:ext cx="1322771" cy="67710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나의정보</a:t>
            </a:r>
            <a:endParaRPr lang="en-US" altLang="ko-KR" sz="1400" dirty="0"/>
          </a:p>
          <a:p>
            <a:r>
              <a:rPr lang="ko-KR" altLang="en-US" sz="1200" dirty="0" err="1"/>
              <a:t>ㄴ</a:t>
            </a:r>
            <a:r>
              <a:rPr lang="ko-KR" altLang="en-US" sz="1200" dirty="0"/>
              <a:t> 정보 수정</a:t>
            </a:r>
            <a:endParaRPr lang="en-US" altLang="ko-KR" sz="1200" dirty="0"/>
          </a:p>
          <a:p>
            <a:r>
              <a:rPr lang="ko-KR" altLang="en-US" sz="1200" dirty="0" err="1"/>
              <a:t>ㄴ</a:t>
            </a:r>
            <a:r>
              <a:rPr lang="ko-KR" altLang="en-US" sz="1200" dirty="0"/>
              <a:t> 나의 이력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E68C97-CFEF-497A-A163-BF16FD1CF550}"/>
              </a:ext>
            </a:extLst>
          </p:cNvPr>
          <p:cNvSpPr txBox="1"/>
          <p:nvPr/>
        </p:nvSpPr>
        <p:spPr>
          <a:xfrm>
            <a:off x="949912" y="2150801"/>
            <a:ext cx="1322771" cy="30777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마이 프로젝트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51593E-ED70-4785-8F0D-39BB8FBB1572}"/>
              </a:ext>
            </a:extLst>
          </p:cNvPr>
          <p:cNvSpPr txBox="1"/>
          <p:nvPr/>
        </p:nvSpPr>
        <p:spPr>
          <a:xfrm>
            <a:off x="949912" y="2461600"/>
            <a:ext cx="1322771" cy="30777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마이 스터디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63B443-B3AD-4FC4-BBEF-6303700DEB59}"/>
              </a:ext>
            </a:extLst>
          </p:cNvPr>
          <p:cNvSpPr txBox="1"/>
          <p:nvPr/>
        </p:nvSpPr>
        <p:spPr>
          <a:xfrm>
            <a:off x="949912" y="2769377"/>
            <a:ext cx="1322771" cy="30777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포인트 충전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D631455-FE6B-4459-8358-A770A872AE62}"/>
              </a:ext>
            </a:extLst>
          </p:cNvPr>
          <p:cNvSpPr/>
          <p:nvPr/>
        </p:nvSpPr>
        <p:spPr>
          <a:xfrm>
            <a:off x="2441362" y="1473693"/>
            <a:ext cx="5131293" cy="4305670"/>
          </a:xfrm>
          <a:prstGeom prst="roundRect">
            <a:avLst>
              <a:gd name="adj" fmla="val 4296"/>
            </a:avLst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B941E3-82FD-4609-9FC8-E9A6F6251A9E}"/>
              </a:ext>
            </a:extLst>
          </p:cNvPr>
          <p:cNvSpPr txBox="1"/>
          <p:nvPr/>
        </p:nvSpPr>
        <p:spPr>
          <a:xfrm>
            <a:off x="2576452" y="1535248"/>
            <a:ext cx="2712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참여중인 스터디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2CB4F10-AF3D-421B-A203-5307832AD8E4}"/>
              </a:ext>
            </a:extLst>
          </p:cNvPr>
          <p:cNvCxnSpPr/>
          <p:nvPr/>
        </p:nvCxnSpPr>
        <p:spPr>
          <a:xfrm>
            <a:off x="2590800" y="1812247"/>
            <a:ext cx="46939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1D81488-4385-4E18-B0A9-75ABCE6D9F66}"/>
              </a:ext>
            </a:extLst>
          </p:cNvPr>
          <p:cNvSpPr txBox="1"/>
          <p:nvPr/>
        </p:nvSpPr>
        <p:spPr>
          <a:xfrm>
            <a:off x="2576452" y="2391516"/>
            <a:ext cx="2712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신청</a:t>
            </a:r>
            <a:r>
              <a:rPr lang="en-US" altLang="ko-KR" sz="1200" dirty="0"/>
              <a:t>/</a:t>
            </a:r>
            <a:r>
              <a:rPr lang="ko-KR" altLang="en-US" sz="1200" dirty="0"/>
              <a:t>모집 스터디 현황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B328307-D832-4244-98D5-D386C9F0D72B}"/>
              </a:ext>
            </a:extLst>
          </p:cNvPr>
          <p:cNvCxnSpPr/>
          <p:nvPr/>
        </p:nvCxnSpPr>
        <p:spPr>
          <a:xfrm>
            <a:off x="2590800" y="2668515"/>
            <a:ext cx="46939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DA1B86F-737B-48C2-BD53-95BE67A4FF53}"/>
              </a:ext>
            </a:extLst>
          </p:cNvPr>
          <p:cNvSpPr txBox="1"/>
          <p:nvPr/>
        </p:nvSpPr>
        <p:spPr>
          <a:xfrm>
            <a:off x="2576452" y="3524782"/>
            <a:ext cx="2712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종료 스터디 목록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D75636D-2690-4B83-A5E1-EC527C5DD726}"/>
              </a:ext>
            </a:extLst>
          </p:cNvPr>
          <p:cNvCxnSpPr/>
          <p:nvPr/>
        </p:nvCxnSpPr>
        <p:spPr>
          <a:xfrm>
            <a:off x="2590800" y="3801781"/>
            <a:ext cx="46939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2C4FA10-B5F6-4129-880B-3A9744205415}"/>
              </a:ext>
            </a:extLst>
          </p:cNvPr>
          <p:cNvSpPr txBox="1"/>
          <p:nvPr/>
        </p:nvSpPr>
        <p:spPr>
          <a:xfrm>
            <a:off x="2576452" y="1889208"/>
            <a:ext cx="47082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내용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557ADE-2A93-4F4D-86F4-6C07583D933F}"/>
              </a:ext>
            </a:extLst>
          </p:cNvPr>
          <p:cNvSpPr txBox="1"/>
          <p:nvPr/>
        </p:nvSpPr>
        <p:spPr>
          <a:xfrm>
            <a:off x="2576452" y="2109575"/>
            <a:ext cx="47082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내용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2692AA-7FCD-4299-A971-39D9179A9FCC}"/>
              </a:ext>
            </a:extLst>
          </p:cNvPr>
          <p:cNvSpPr txBox="1"/>
          <p:nvPr/>
        </p:nvSpPr>
        <p:spPr>
          <a:xfrm>
            <a:off x="2576452" y="2731751"/>
            <a:ext cx="47082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내용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81BC49-94A0-4B5D-A3F5-38A28FD61CA0}"/>
              </a:ext>
            </a:extLst>
          </p:cNvPr>
          <p:cNvSpPr txBox="1"/>
          <p:nvPr/>
        </p:nvSpPr>
        <p:spPr>
          <a:xfrm>
            <a:off x="2576452" y="2997461"/>
            <a:ext cx="47082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내용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C1D0DB-DFD1-4233-BB43-F6697EE63887}"/>
              </a:ext>
            </a:extLst>
          </p:cNvPr>
          <p:cNvSpPr txBox="1"/>
          <p:nvPr/>
        </p:nvSpPr>
        <p:spPr>
          <a:xfrm>
            <a:off x="2576452" y="3897356"/>
            <a:ext cx="47082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내용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9D27A2-B1F2-41EE-9F98-669884C884F5}"/>
              </a:ext>
            </a:extLst>
          </p:cNvPr>
          <p:cNvSpPr txBox="1"/>
          <p:nvPr/>
        </p:nvSpPr>
        <p:spPr>
          <a:xfrm>
            <a:off x="2590800" y="4158966"/>
            <a:ext cx="47082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내용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01EA1F-C95D-4173-B9B6-710685FBF73E}"/>
              </a:ext>
            </a:extLst>
          </p:cNvPr>
          <p:cNvSpPr txBox="1"/>
          <p:nvPr/>
        </p:nvSpPr>
        <p:spPr>
          <a:xfrm>
            <a:off x="2590800" y="4426792"/>
            <a:ext cx="47082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내용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A0D721-420D-43EA-AF12-D9A0D7F6375E}"/>
              </a:ext>
            </a:extLst>
          </p:cNvPr>
          <p:cNvSpPr txBox="1"/>
          <p:nvPr/>
        </p:nvSpPr>
        <p:spPr>
          <a:xfrm>
            <a:off x="949912" y="1473693"/>
            <a:ext cx="1322771" cy="861774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나의정보</a:t>
            </a:r>
            <a:endParaRPr lang="en-US" altLang="ko-KR" sz="1400" dirty="0"/>
          </a:p>
          <a:p>
            <a:r>
              <a:rPr lang="ko-KR" altLang="en-US" sz="1200" dirty="0" err="1"/>
              <a:t>ㄴ</a:t>
            </a:r>
            <a:r>
              <a:rPr lang="ko-KR" altLang="en-US" sz="1200" dirty="0"/>
              <a:t> 정보 수정</a:t>
            </a:r>
            <a:endParaRPr lang="en-US" altLang="ko-KR" sz="1200" dirty="0"/>
          </a:p>
          <a:p>
            <a:r>
              <a:rPr lang="ko-KR" altLang="en-US" sz="1200" dirty="0" err="1"/>
              <a:t>ㄴ</a:t>
            </a:r>
            <a:r>
              <a:rPr lang="ko-KR" altLang="en-US" sz="1200" dirty="0"/>
              <a:t> 나의 이력</a:t>
            </a:r>
            <a:endParaRPr lang="en-US" altLang="ko-KR" sz="1200" dirty="0"/>
          </a:p>
          <a:p>
            <a:r>
              <a:rPr lang="ko-KR" altLang="en-US" sz="1200" dirty="0" err="1"/>
              <a:t>ㄴ</a:t>
            </a:r>
            <a:r>
              <a:rPr lang="ko-KR" altLang="en-US" sz="1200" dirty="0"/>
              <a:t> </a:t>
            </a:r>
            <a:r>
              <a:rPr lang="ko-KR" altLang="en-US" sz="1050" dirty="0"/>
              <a:t>구인 신청 이력</a:t>
            </a:r>
            <a:endParaRPr lang="ko-KR" alt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D82E39-4C15-4C58-BEB1-82F65F143055}"/>
              </a:ext>
            </a:extLst>
          </p:cNvPr>
          <p:cNvSpPr txBox="1"/>
          <p:nvPr/>
        </p:nvSpPr>
        <p:spPr>
          <a:xfrm>
            <a:off x="949912" y="2335467"/>
            <a:ext cx="1322771" cy="30777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마이 프로젝트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70137D-4A70-4938-8BB0-5EBF92341EB3}"/>
              </a:ext>
            </a:extLst>
          </p:cNvPr>
          <p:cNvSpPr txBox="1"/>
          <p:nvPr/>
        </p:nvSpPr>
        <p:spPr>
          <a:xfrm>
            <a:off x="949912" y="2643244"/>
            <a:ext cx="1322771" cy="30777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마이 스터디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B63A90-BF01-4A5C-A544-C096A3A3C7C1}"/>
              </a:ext>
            </a:extLst>
          </p:cNvPr>
          <p:cNvSpPr txBox="1"/>
          <p:nvPr/>
        </p:nvSpPr>
        <p:spPr>
          <a:xfrm>
            <a:off x="949912" y="2951021"/>
            <a:ext cx="1322771" cy="307777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포인트 충전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CA126F0-FDC9-4D5F-8FA3-E77AE959399F}"/>
              </a:ext>
            </a:extLst>
          </p:cNvPr>
          <p:cNvSpPr/>
          <p:nvPr/>
        </p:nvSpPr>
        <p:spPr>
          <a:xfrm>
            <a:off x="860325" y="1374839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72B09C6-9161-441A-9A3E-B28FB1EB5DF8}"/>
              </a:ext>
            </a:extLst>
          </p:cNvPr>
          <p:cNvSpPr/>
          <p:nvPr/>
        </p:nvSpPr>
        <p:spPr>
          <a:xfrm>
            <a:off x="2419321" y="140219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628358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DE67B57-CC40-4EB9-96D7-6431E89F8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566703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Dv-009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기업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Dv-req-009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가입한 기업의 상세한 정보를 볼 수 있는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기업 이용자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황준철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기업 페이지에서 선택 가능한 항목들의 목록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가입한 기업의 상세한 정보를 보여주는 화면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49E77D30-B1E0-4F99-B3DD-45D111164E56}"/>
              </a:ext>
            </a:extLst>
          </p:cNvPr>
          <p:cNvSpPr/>
          <p:nvPr/>
        </p:nvSpPr>
        <p:spPr>
          <a:xfrm>
            <a:off x="781233" y="894424"/>
            <a:ext cx="7146526" cy="53377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68C84E-C785-47E2-BAD6-F05B6DFE1EC6}"/>
              </a:ext>
            </a:extLst>
          </p:cNvPr>
          <p:cNvSpPr txBox="1"/>
          <p:nvPr/>
        </p:nvSpPr>
        <p:spPr>
          <a:xfrm>
            <a:off x="939521" y="1749480"/>
            <a:ext cx="1322771" cy="276999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구인 신청 현황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60737CC-4E19-4DAC-8634-71D0FDF1CF0C}"/>
              </a:ext>
            </a:extLst>
          </p:cNvPr>
          <p:cNvSpPr/>
          <p:nvPr/>
        </p:nvSpPr>
        <p:spPr>
          <a:xfrm>
            <a:off x="2441362" y="1473693"/>
            <a:ext cx="5131293" cy="4305670"/>
          </a:xfrm>
          <a:prstGeom prst="roundRect">
            <a:avLst>
              <a:gd name="adj" fmla="val 4296"/>
            </a:avLst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8615C8-4DEE-4C29-BE2E-09A5320D6567}"/>
              </a:ext>
            </a:extLst>
          </p:cNvPr>
          <p:cNvSpPr txBox="1"/>
          <p:nvPr/>
        </p:nvSpPr>
        <p:spPr>
          <a:xfrm>
            <a:off x="939521" y="1471634"/>
            <a:ext cx="1322771" cy="276999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기업 정보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3ABA3E0-FD14-411B-8E83-D0C849F41149}"/>
              </a:ext>
            </a:extLst>
          </p:cNvPr>
          <p:cNvSpPr/>
          <p:nvPr/>
        </p:nvSpPr>
        <p:spPr>
          <a:xfrm>
            <a:off x="2688681" y="1748632"/>
            <a:ext cx="4636654" cy="37931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기업 이름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기업 설명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54716D39-A5CC-487C-ABBD-436145E9952F}"/>
              </a:ext>
            </a:extLst>
          </p:cNvPr>
          <p:cNvCxnSpPr>
            <a:cxnSpLocks/>
          </p:cNvCxnSpPr>
          <p:nvPr/>
        </p:nvCxnSpPr>
        <p:spPr>
          <a:xfrm>
            <a:off x="2688681" y="2198255"/>
            <a:ext cx="46449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CA545DA-1DE2-4E61-B1A6-CBEF8132CAD5}"/>
              </a:ext>
            </a:extLst>
          </p:cNvPr>
          <p:cNvSpPr/>
          <p:nvPr/>
        </p:nvSpPr>
        <p:spPr>
          <a:xfrm>
            <a:off x="860325" y="1374839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47D99AF-8444-409D-9B46-E21B87E49A73}"/>
              </a:ext>
            </a:extLst>
          </p:cNvPr>
          <p:cNvSpPr/>
          <p:nvPr/>
        </p:nvSpPr>
        <p:spPr>
          <a:xfrm>
            <a:off x="2351775" y="143357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6674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DE67B57-CC40-4EB9-96D7-6431E89F8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466035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Dv-010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기업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Dv-req-010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가입한 기업이 올린 </a:t>
                      </a:r>
                      <a:r>
                        <a:rPr lang="ko-KR" altLang="en-US" sz="1000" dirty="0" err="1"/>
                        <a:t>구인글에</a:t>
                      </a:r>
                      <a:r>
                        <a:rPr lang="ko-KR" altLang="en-US" sz="1000" dirty="0"/>
                        <a:t> 신청이 온 신청자들의 목록을 보여주는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기업 이용자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황준철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기업 페이지에서 선택 가능한 항목들의 목록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구인 페이지에 기업이 올린 글에 신청된 유저들의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목록을 볼 수 있는 화면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신청한 유저의 이력서를 볼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 있음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49E77D30-B1E0-4F99-B3DD-45D111164E56}"/>
              </a:ext>
            </a:extLst>
          </p:cNvPr>
          <p:cNvSpPr/>
          <p:nvPr/>
        </p:nvSpPr>
        <p:spPr>
          <a:xfrm>
            <a:off x="781233" y="894424"/>
            <a:ext cx="7146526" cy="53377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68C84E-C785-47E2-BAD6-F05B6DFE1EC6}"/>
              </a:ext>
            </a:extLst>
          </p:cNvPr>
          <p:cNvSpPr txBox="1"/>
          <p:nvPr/>
        </p:nvSpPr>
        <p:spPr>
          <a:xfrm>
            <a:off x="939521" y="1749480"/>
            <a:ext cx="1322771" cy="276999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구인 신청 현황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60737CC-4E19-4DAC-8634-71D0FDF1CF0C}"/>
              </a:ext>
            </a:extLst>
          </p:cNvPr>
          <p:cNvSpPr/>
          <p:nvPr/>
        </p:nvSpPr>
        <p:spPr>
          <a:xfrm>
            <a:off x="2441362" y="1473693"/>
            <a:ext cx="5131293" cy="4305670"/>
          </a:xfrm>
          <a:prstGeom prst="roundRect">
            <a:avLst>
              <a:gd name="adj" fmla="val 4296"/>
            </a:avLst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8615C8-4DEE-4C29-BE2E-09A5320D6567}"/>
              </a:ext>
            </a:extLst>
          </p:cNvPr>
          <p:cNvSpPr txBox="1"/>
          <p:nvPr/>
        </p:nvSpPr>
        <p:spPr>
          <a:xfrm>
            <a:off x="939521" y="1471634"/>
            <a:ext cx="1322771" cy="276999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기업 정보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A005FD-0FC5-4238-9DCF-9C5227A020AF}"/>
              </a:ext>
            </a:extLst>
          </p:cNvPr>
          <p:cNvSpPr txBox="1"/>
          <p:nvPr/>
        </p:nvSpPr>
        <p:spPr>
          <a:xfrm>
            <a:off x="2660074" y="1657147"/>
            <a:ext cx="10621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신청자 목록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ACB6032-9ABA-42F6-AE6B-412DAE4988FE}"/>
              </a:ext>
            </a:extLst>
          </p:cNvPr>
          <p:cNvCxnSpPr>
            <a:cxnSpLocks/>
          </p:cNvCxnSpPr>
          <p:nvPr/>
        </p:nvCxnSpPr>
        <p:spPr>
          <a:xfrm>
            <a:off x="2441362" y="2026479"/>
            <a:ext cx="51312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05461F8-015A-4BD7-B8D0-3052EBFDC2A8}"/>
              </a:ext>
            </a:extLst>
          </p:cNvPr>
          <p:cNvSpPr txBox="1"/>
          <p:nvPr/>
        </p:nvSpPr>
        <p:spPr>
          <a:xfrm>
            <a:off x="2660074" y="2209934"/>
            <a:ext cx="10621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신청자 닉네임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C34FAD-C8BA-4313-8AC5-16345702CEE4}"/>
              </a:ext>
            </a:extLst>
          </p:cNvPr>
          <p:cNvSpPr txBox="1"/>
          <p:nvPr/>
        </p:nvSpPr>
        <p:spPr>
          <a:xfrm>
            <a:off x="3722256" y="2209934"/>
            <a:ext cx="10621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신청자 연락처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E1686A-EC1C-4AC7-A93E-DA1C54DFB22D}"/>
              </a:ext>
            </a:extLst>
          </p:cNvPr>
          <p:cNvSpPr txBox="1"/>
          <p:nvPr/>
        </p:nvSpPr>
        <p:spPr>
          <a:xfrm>
            <a:off x="4784438" y="2209934"/>
            <a:ext cx="10621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신청 일자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9B9C06-E903-491C-933E-5A3F626230CA}"/>
              </a:ext>
            </a:extLst>
          </p:cNvPr>
          <p:cNvSpPr txBox="1"/>
          <p:nvPr/>
        </p:nvSpPr>
        <p:spPr>
          <a:xfrm>
            <a:off x="5647455" y="2209934"/>
            <a:ext cx="10621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이력서 보기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ADB8AA6-3A7A-499C-A485-D9BDFDECA6B7}"/>
              </a:ext>
            </a:extLst>
          </p:cNvPr>
          <p:cNvSpPr/>
          <p:nvPr/>
        </p:nvSpPr>
        <p:spPr>
          <a:xfrm>
            <a:off x="860325" y="1374839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C88EC11-2670-4EFC-ADC5-2D406252491B}"/>
              </a:ext>
            </a:extLst>
          </p:cNvPr>
          <p:cNvSpPr/>
          <p:nvPr/>
        </p:nvSpPr>
        <p:spPr>
          <a:xfrm>
            <a:off x="2419568" y="1374839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443499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DE67B57-CC40-4EB9-96D7-6431E89F8ED4}"/>
              </a:ext>
            </a:extLst>
          </p:cNvPr>
          <p:cNvGraphicFramePr>
            <a:graphicFrameLocks noGrp="1"/>
          </p:cNvGraphicFramePr>
          <p:nvPr/>
        </p:nvGraphicFramePr>
        <p:xfrm>
          <a:off x="99540" y="106520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Dv-101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팀 프로젝트 서비스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메인화면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Dv-req-001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유저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박병호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프로젝트의 이름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프로젝트 생성자가 정하지 않았다면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자유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표시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프로젝트 진행기간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개월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팀 결성 후 결정은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미정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으로 표시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프로젝트 진행 시 선호하는 진행 방법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온라인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|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오프라인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시군구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이름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 | </a:t>
                      </a:r>
                      <a:r>
                        <a:rPr lang="ko-KR" altLang="en-US" sz="1000" dirty="0"/>
                        <a:t>온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오프라인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모집 기술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 </a:t>
                      </a: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모집 인원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등록일자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마감일까지 남은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d-day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프로젝트 현황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프로젝트 생성자라면 프로젝트 지원자 정보를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수락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거절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프로젝트 지원자라면 지원한 프로젝트 정보를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수정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취소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프로젝트 진행 중이라면 프로젝트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남은기간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Dv-107,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Dv-108]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8.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프로젝트 생성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프로젝트가 진행 중이면 리스트 </a:t>
                      </a:r>
                      <a:r>
                        <a:rPr lang="ko-KR" altLang="en-US" sz="10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안뜸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프로젝트 지원도 신청도 </a:t>
                      </a:r>
                      <a:r>
                        <a:rPr lang="ko-KR" altLang="en-US" sz="10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안했으면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7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번화면 </a:t>
                      </a:r>
                      <a:r>
                        <a:rPr lang="ko-KR" altLang="en-US" sz="10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안뜸</a:t>
                      </a: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graphicFrame>
        <p:nvGraphicFramePr>
          <p:cNvPr id="4" name="표 5">
            <a:extLst>
              <a:ext uri="{FF2B5EF4-FFF2-40B4-BE49-F238E27FC236}">
                <a16:creationId xmlns:a16="http://schemas.microsoft.com/office/drawing/2014/main" id="{916C5C90-C7B0-4DB4-82A5-96E9D4845270}"/>
              </a:ext>
            </a:extLst>
          </p:cNvPr>
          <p:cNvGraphicFramePr>
            <a:graphicFrameLocks noGrp="1"/>
          </p:cNvGraphicFramePr>
          <p:nvPr/>
        </p:nvGraphicFramePr>
        <p:xfrm>
          <a:off x="304444" y="3814190"/>
          <a:ext cx="8128001" cy="128675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986837">
                  <a:extLst>
                    <a:ext uri="{9D8B030D-6E8A-4147-A177-3AD203B41FA5}">
                      <a16:colId xmlns:a16="http://schemas.microsoft.com/office/drawing/2014/main" val="3760704791"/>
                    </a:ext>
                  </a:extLst>
                </a:gridCol>
                <a:gridCol w="2557093">
                  <a:extLst>
                    <a:ext uri="{9D8B030D-6E8A-4147-A177-3AD203B41FA5}">
                      <a16:colId xmlns:a16="http://schemas.microsoft.com/office/drawing/2014/main" val="2485824106"/>
                    </a:ext>
                  </a:extLst>
                </a:gridCol>
                <a:gridCol w="735983">
                  <a:extLst>
                    <a:ext uri="{9D8B030D-6E8A-4147-A177-3AD203B41FA5}">
                      <a16:colId xmlns:a16="http://schemas.microsoft.com/office/drawing/2014/main" val="667852636"/>
                    </a:ext>
                  </a:extLst>
                </a:gridCol>
                <a:gridCol w="1124465">
                  <a:extLst>
                    <a:ext uri="{9D8B030D-6E8A-4147-A177-3AD203B41FA5}">
                      <a16:colId xmlns:a16="http://schemas.microsoft.com/office/drawing/2014/main" val="1776519138"/>
                    </a:ext>
                  </a:extLst>
                </a:gridCol>
                <a:gridCol w="939113">
                  <a:extLst>
                    <a:ext uri="{9D8B030D-6E8A-4147-A177-3AD203B41FA5}">
                      <a16:colId xmlns:a16="http://schemas.microsoft.com/office/drawing/2014/main" val="835239357"/>
                    </a:ext>
                  </a:extLst>
                </a:gridCol>
                <a:gridCol w="747584">
                  <a:extLst>
                    <a:ext uri="{9D8B030D-6E8A-4147-A177-3AD203B41FA5}">
                      <a16:colId xmlns:a16="http://schemas.microsoft.com/office/drawing/2014/main" val="4249604397"/>
                    </a:ext>
                  </a:extLst>
                </a:gridCol>
                <a:gridCol w="1036926">
                  <a:extLst>
                    <a:ext uri="{9D8B030D-6E8A-4147-A177-3AD203B41FA5}">
                      <a16:colId xmlns:a16="http://schemas.microsoft.com/office/drawing/2014/main" val="3149292789"/>
                    </a:ext>
                  </a:extLst>
                </a:gridCol>
              </a:tblGrid>
              <a:tr h="2573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팀장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프로젝트 명   </a:t>
                      </a:r>
                      <a:r>
                        <a:rPr lang="en-US" altLang="ko-KR" sz="10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?</a:t>
                      </a:r>
                      <a:endParaRPr lang="ko-KR" altLang="en-US" sz="10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진행방식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모집 기술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현재인원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등록일자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664138"/>
                  </a:ext>
                </a:extLst>
              </a:tr>
              <a:tr h="2573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wsmkkk2</a:t>
                      </a:r>
                      <a:r>
                        <a:rPr lang="en-US" altLang="ko-KR" sz="10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[lv5]</a:t>
                      </a:r>
                      <a:endParaRPr lang="ko-KR" altLang="en-US" sz="100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부동산 앱 프로젝트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5</a:t>
                      </a:r>
                      <a:r>
                        <a:rPr lang="ko-KR" altLang="en-US" sz="1000" dirty="0"/>
                        <a:t>개월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온라인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Spring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[2]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3/5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22/03/14[d-2]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613559"/>
                  </a:ext>
                </a:extLst>
              </a:tr>
              <a:tr h="2573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ByungHo</a:t>
                      </a:r>
                      <a:r>
                        <a:rPr lang="en-US" altLang="ko-KR" sz="10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[lv5]</a:t>
                      </a:r>
                      <a:endParaRPr lang="ko-KR" altLang="en-US" sz="100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운동기록 웹사이트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</a:t>
                      </a:r>
                      <a:r>
                        <a:rPr lang="ko-KR" altLang="en-US" sz="1000" dirty="0"/>
                        <a:t>개월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온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오프라인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JAVA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[2]</a:t>
                      </a:r>
                      <a:r>
                        <a:rPr lang="en-US" altLang="ko-KR" sz="1000" dirty="0"/>
                        <a:t>, JS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[2]</a:t>
                      </a: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1/5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22/03/11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121393"/>
                  </a:ext>
                </a:extLst>
              </a:tr>
              <a:tr h="2573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/>
                        <a:t>Zuzuzuz</a:t>
                      </a:r>
                      <a:r>
                        <a:rPr lang="en-US" altLang="ko-KR" sz="10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[lv1]</a:t>
                      </a:r>
                      <a:endParaRPr lang="ko-KR" altLang="en-US" sz="100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자유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10</a:t>
                      </a:r>
                      <a:r>
                        <a:rPr lang="ko-KR" altLang="en-US" sz="1000" dirty="0"/>
                        <a:t>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온라인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백엔드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[2]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2/4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22/03/10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17497"/>
                  </a:ext>
                </a:extLst>
              </a:tr>
              <a:tr h="2573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honggil</a:t>
                      </a:r>
                      <a:r>
                        <a:rPr lang="en-US" altLang="ko-KR" sz="10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[lv3]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자유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미정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온라인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프론트엔드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[2]</a:t>
                      </a: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1/4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9180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9E3A8B1-DE09-4B03-879B-409853C1A5F0}"/>
              </a:ext>
            </a:extLst>
          </p:cNvPr>
          <p:cNvSpPr txBox="1"/>
          <p:nvPr/>
        </p:nvSpPr>
        <p:spPr>
          <a:xfrm>
            <a:off x="218925" y="3305031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dirty="0"/>
              <a:t>프로젝트 모집 리스트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CA2B82A-B281-4E46-BA5D-528B7ADB066A}"/>
              </a:ext>
            </a:extLst>
          </p:cNvPr>
          <p:cNvSpPr/>
          <p:nvPr/>
        </p:nvSpPr>
        <p:spPr>
          <a:xfrm>
            <a:off x="1093574" y="367436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F1070F0-9517-43D0-A9C3-B8A2F31B7D3E}"/>
              </a:ext>
            </a:extLst>
          </p:cNvPr>
          <p:cNvSpPr/>
          <p:nvPr/>
        </p:nvSpPr>
        <p:spPr>
          <a:xfrm>
            <a:off x="3797645" y="365178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endParaRPr lang="ko-KR" altLang="en-US" sz="10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7159C0-EC47-4FF6-8600-ADBFEBF25269}"/>
              </a:ext>
            </a:extLst>
          </p:cNvPr>
          <p:cNvSpPr/>
          <p:nvPr/>
        </p:nvSpPr>
        <p:spPr>
          <a:xfrm>
            <a:off x="4583836" y="363519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3</a:t>
            </a:r>
            <a:endParaRPr lang="ko-KR" altLang="en-US" sz="10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A619668-431A-4431-BF00-A8BE0F39D78F}"/>
              </a:ext>
            </a:extLst>
          </p:cNvPr>
          <p:cNvSpPr/>
          <p:nvPr/>
        </p:nvSpPr>
        <p:spPr>
          <a:xfrm>
            <a:off x="5780382" y="3651780"/>
            <a:ext cx="179173" cy="21208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</a:t>
            </a:r>
            <a:endParaRPr lang="ko-KR" altLang="en-US" sz="10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1EE613-9213-4606-9AA9-4FEADB8B2315}"/>
              </a:ext>
            </a:extLst>
          </p:cNvPr>
          <p:cNvSpPr/>
          <p:nvPr/>
        </p:nvSpPr>
        <p:spPr>
          <a:xfrm>
            <a:off x="6742156" y="3647785"/>
            <a:ext cx="179173" cy="21208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5</a:t>
            </a:r>
            <a:endParaRPr lang="ko-KR" altLang="en-US" sz="10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4806E44-7A17-45C7-B10A-4024783D6138}"/>
              </a:ext>
            </a:extLst>
          </p:cNvPr>
          <p:cNvSpPr/>
          <p:nvPr/>
        </p:nvSpPr>
        <p:spPr>
          <a:xfrm>
            <a:off x="7703930" y="3651780"/>
            <a:ext cx="179173" cy="21208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6</a:t>
            </a:r>
            <a:endParaRPr lang="ko-KR" alt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B7BE4C-10F9-45BA-AB83-4B81FA869E1B}"/>
              </a:ext>
            </a:extLst>
          </p:cNvPr>
          <p:cNvSpPr txBox="1"/>
          <p:nvPr/>
        </p:nvSpPr>
        <p:spPr>
          <a:xfrm>
            <a:off x="218925" y="841094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dirty="0"/>
              <a:t>프로젝트 현황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72FA3B3-2442-43E6-8FE6-D952D65D7819}"/>
              </a:ext>
            </a:extLst>
          </p:cNvPr>
          <p:cNvSpPr/>
          <p:nvPr/>
        </p:nvSpPr>
        <p:spPr>
          <a:xfrm>
            <a:off x="4037900" y="5317418"/>
            <a:ext cx="179173" cy="19770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9B78455-2CFC-4DDA-9B25-560D0BBE6378}"/>
              </a:ext>
            </a:extLst>
          </p:cNvPr>
          <p:cNvSpPr/>
          <p:nvPr/>
        </p:nvSpPr>
        <p:spPr>
          <a:xfrm>
            <a:off x="4342878" y="5317418"/>
            <a:ext cx="179173" cy="1977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2C4032B-B1A4-4C65-B3BA-021EEEFD6C2E}"/>
              </a:ext>
            </a:extLst>
          </p:cNvPr>
          <p:cNvSpPr/>
          <p:nvPr/>
        </p:nvSpPr>
        <p:spPr>
          <a:xfrm>
            <a:off x="4668107" y="5317418"/>
            <a:ext cx="179173" cy="1977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3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E0D3A24-07D5-4EFF-91AB-6852A37CE82D}"/>
              </a:ext>
            </a:extLst>
          </p:cNvPr>
          <p:cNvSpPr/>
          <p:nvPr/>
        </p:nvSpPr>
        <p:spPr>
          <a:xfrm>
            <a:off x="304444" y="1252920"/>
            <a:ext cx="8128001" cy="7317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C750999-FE98-43EB-A1B6-00E3BE15C7B2}"/>
              </a:ext>
            </a:extLst>
          </p:cNvPr>
          <p:cNvSpPr/>
          <p:nvPr/>
        </p:nvSpPr>
        <p:spPr>
          <a:xfrm>
            <a:off x="218925" y="1117498"/>
            <a:ext cx="179173" cy="21208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7</a:t>
            </a:r>
            <a:endParaRPr lang="ko-KR" altLang="en-US" sz="1000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3A38D98-243A-44E6-BDB5-253CD6C79C13}"/>
              </a:ext>
            </a:extLst>
          </p:cNvPr>
          <p:cNvSpPr/>
          <p:nvPr/>
        </p:nvSpPr>
        <p:spPr>
          <a:xfrm>
            <a:off x="7169576" y="5279933"/>
            <a:ext cx="1247880" cy="2828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프로젝트 생성</a:t>
            </a:r>
            <a:endParaRPr lang="ko-KR" altLang="en-US" sz="12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5039DBC-55F2-45DB-8641-2C4A842784D7}"/>
              </a:ext>
            </a:extLst>
          </p:cNvPr>
          <p:cNvSpPr/>
          <p:nvPr/>
        </p:nvSpPr>
        <p:spPr>
          <a:xfrm>
            <a:off x="7079989" y="5204183"/>
            <a:ext cx="179173" cy="21208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8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341036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DE67B57-CC40-4EB9-96D7-6431E89F8ED4}"/>
              </a:ext>
            </a:extLst>
          </p:cNvPr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Dv-102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팀 프로젝트 상세화면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Dv-req-002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유저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박병호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프로젝트 상세 설명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참여 신청 버튼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5D45641-C532-41FA-AB44-EC45E9237B38}"/>
              </a:ext>
            </a:extLst>
          </p:cNvPr>
          <p:cNvSpPr/>
          <p:nvPr/>
        </p:nvSpPr>
        <p:spPr>
          <a:xfrm>
            <a:off x="3866349" y="6275810"/>
            <a:ext cx="1107246" cy="2828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참여 신청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8F29C1-560E-4A85-BDCC-2EFCB623308E}"/>
              </a:ext>
            </a:extLst>
          </p:cNvPr>
          <p:cNvSpPr txBox="1"/>
          <p:nvPr/>
        </p:nvSpPr>
        <p:spPr>
          <a:xfrm>
            <a:off x="1508293" y="1999839"/>
            <a:ext cx="1745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ko-KR" altLang="en-US" sz="1400" dirty="0"/>
              <a:t>부동산 앱 프로젝트</a:t>
            </a:r>
            <a:endParaRPr lang="en-US" altLang="ko-KR" sz="14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832A966-126B-4576-BA24-169D7F8FEB7C}"/>
              </a:ext>
            </a:extLst>
          </p:cNvPr>
          <p:cNvSpPr/>
          <p:nvPr/>
        </p:nvSpPr>
        <p:spPr>
          <a:xfrm>
            <a:off x="1644605" y="1121620"/>
            <a:ext cx="894665" cy="75651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ED770F-891E-4C6F-9DFD-CBF600813814}"/>
              </a:ext>
            </a:extLst>
          </p:cNvPr>
          <p:cNvSpPr txBox="1"/>
          <p:nvPr/>
        </p:nvSpPr>
        <p:spPr>
          <a:xfrm>
            <a:off x="5989643" y="2022921"/>
            <a:ext cx="13003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n-US" altLang="ko-KR" sz="1100" dirty="0"/>
              <a:t>2022/03/13 13:23</a:t>
            </a:r>
            <a:endParaRPr lang="ko-KR" alt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FBFEAB-91CD-4C0F-AA4D-3581E09DA8FC}"/>
              </a:ext>
            </a:extLst>
          </p:cNvPr>
          <p:cNvSpPr txBox="1"/>
          <p:nvPr/>
        </p:nvSpPr>
        <p:spPr>
          <a:xfrm>
            <a:off x="3544786" y="1999838"/>
            <a:ext cx="643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n-US" altLang="ko-KR" sz="1400" dirty="0"/>
              <a:t>6</a:t>
            </a:r>
            <a:r>
              <a:rPr lang="ko-KR" altLang="en-US" sz="1400" dirty="0"/>
              <a:t>개월</a:t>
            </a:r>
            <a:endParaRPr lang="en-US" altLang="ko-KR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7D7E33-5886-4941-9E65-4366286A3BA3}"/>
              </a:ext>
            </a:extLst>
          </p:cNvPr>
          <p:cNvSpPr txBox="1"/>
          <p:nvPr/>
        </p:nvSpPr>
        <p:spPr>
          <a:xfrm>
            <a:off x="1508293" y="4172568"/>
            <a:ext cx="15440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ko-KR" altLang="en-US" sz="1400" dirty="0"/>
              <a:t>오프라인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비대면</a:t>
            </a:r>
            <a:endParaRPr lang="en-US" altLang="ko-KR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F7C48D-26DB-43AD-96B4-D60E9A8ADC1F}"/>
              </a:ext>
            </a:extLst>
          </p:cNvPr>
          <p:cNvSpPr txBox="1"/>
          <p:nvPr/>
        </p:nvSpPr>
        <p:spPr>
          <a:xfrm>
            <a:off x="1508293" y="2426093"/>
            <a:ext cx="383600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프로젝트 설명 프로젝트 설명 프로젝트 설명 프로젝트 설명 프로젝트 설명 프로젝트 설명 프로젝트 설명 프로젝트 설명 프로젝트 설명 프로젝트 설명 프로젝트 설명 프로젝트 설명</a:t>
            </a:r>
            <a:r>
              <a:rPr lang="en-US" altLang="ko-KR" sz="1000" dirty="0"/>
              <a:t> </a:t>
            </a:r>
            <a:r>
              <a:rPr lang="ko-KR" altLang="en-US" sz="1000" dirty="0"/>
              <a:t>프로젝트 설명 프로젝트 설명 프로젝트 설명 프로젝트 설명 프로젝트 설명 프로젝트 설명</a:t>
            </a:r>
            <a:endParaRPr lang="en-US" altLang="ko-KR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3D2F53-FBDF-4BF5-9D44-EEACE276F5F3}"/>
              </a:ext>
            </a:extLst>
          </p:cNvPr>
          <p:cNvSpPr txBox="1"/>
          <p:nvPr/>
        </p:nvSpPr>
        <p:spPr>
          <a:xfrm>
            <a:off x="1508293" y="4439962"/>
            <a:ext cx="3836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오프라인 </a:t>
            </a:r>
            <a:r>
              <a:rPr lang="en-US" altLang="ko-KR" sz="1000" dirty="0"/>
              <a:t>: </a:t>
            </a:r>
            <a:r>
              <a:rPr lang="ko-KR" altLang="en-US" sz="1000" dirty="0"/>
              <a:t>경기도 </a:t>
            </a:r>
            <a:r>
              <a:rPr lang="ko-KR" altLang="en-US" sz="1000" dirty="0" err="1"/>
              <a:t>성남구</a:t>
            </a:r>
            <a:endParaRPr lang="en-US" altLang="ko-KR" sz="1000" dirty="0"/>
          </a:p>
          <a:p>
            <a:r>
              <a:rPr lang="ko-KR" altLang="en-US" sz="1000" dirty="0" err="1"/>
              <a:t>비대면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줌</a:t>
            </a:r>
            <a:endParaRPr lang="en-US" altLang="ko-KR" sz="10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4F6DD06-00C9-4C7C-BE75-54356C32CF51}"/>
              </a:ext>
            </a:extLst>
          </p:cNvPr>
          <p:cNvSpPr/>
          <p:nvPr/>
        </p:nvSpPr>
        <p:spPr>
          <a:xfrm>
            <a:off x="1465432" y="2333514"/>
            <a:ext cx="179173" cy="21208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1B65E40-A107-43E2-A1E3-F14077899A09}"/>
              </a:ext>
            </a:extLst>
          </p:cNvPr>
          <p:cNvSpPr/>
          <p:nvPr/>
        </p:nvSpPr>
        <p:spPr>
          <a:xfrm>
            <a:off x="3866348" y="6100061"/>
            <a:ext cx="179173" cy="21208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826532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DE67B57-CC40-4EB9-96D7-6431E89F8ED4}"/>
              </a:ext>
            </a:extLst>
          </p:cNvPr>
          <p:cNvGraphicFramePr>
            <a:graphicFrameLocks noGrp="1"/>
          </p:cNvGraphicFramePr>
          <p:nvPr/>
        </p:nvGraphicFramePr>
        <p:xfrm>
          <a:off x="99540" y="106520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Dv-103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팀 프로젝트 신청화면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Dv-req-003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유저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박병호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지원포지션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사용 가능한 기술 스택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기본값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개인정보 설정에 있는 기술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경력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신입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[ ~ ]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개발자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[~]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년차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대학생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취준생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지원사유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신청완료버튼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5D45641-C532-41FA-AB44-EC45E9237B38}"/>
              </a:ext>
            </a:extLst>
          </p:cNvPr>
          <p:cNvSpPr/>
          <p:nvPr/>
        </p:nvSpPr>
        <p:spPr>
          <a:xfrm>
            <a:off x="1659924" y="5374702"/>
            <a:ext cx="1019280" cy="2828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신청완료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F084678-FF1B-479A-8DBA-D85278599542}"/>
              </a:ext>
            </a:extLst>
          </p:cNvPr>
          <p:cNvSpPr/>
          <p:nvPr/>
        </p:nvSpPr>
        <p:spPr>
          <a:xfrm>
            <a:off x="1659925" y="3668237"/>
            <a:ext cx="4596713" cy="59345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프로젝트 진행 프로젝트 진행 프로젝트 진행 프로젝트 진행 프로젝트 진행 프로젝트 진행 프로젝트 진행 프로젝트 진행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CBC028-3C7A-4C88-BD7C-B0BCB0330775}"/>
              </a:ext>
            </a:extLst>
          </p:cNvPr>
          <p:cNvSpPr txBox="1"/>
          <p:nvPr/>
        </p:nvSpPr>
        <p:spPr>
          <a:xfrm>
            <a:off x="1659925" y="3360460"/>
            <a:ext cx="965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ko-KR" altLang="en-US" sz="1400" dirty="0"/>
              <a:t>지원 사유</a:t>
            </a:r>
            <a:endParaRPr lang="en-US" altLang="ko-KR" sz="14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A32155D-4CAD-4E13-8CDD-2F465FDC82D7}"/>
              </a:ext>
            </a:extLst>
          </p:cNvPr>
          <p:cNvSpPr/>
          <p:nvPr/>
        </p:nvSpPr>
        <p:spPr>
          <a:xfrm>
            <a:off x="1659924" y="1895857"/>
            <a:ext cx="4596713" cy="3077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JAVA, Spring, </a:t>
            </a:r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OracleDB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D3CACD-FE24-4AFF-BC9E-56B85615A745}"/>
              </a:ext>
            </a:extLst>
          </p:cNvPr>
          <p:cNvSpPr txBox="1"/>
          <p:nvPr/>
        </p:nvSpPr>
        <p:spPr>
          <a:xfrm>
            <a:off x="1659925" y="1588080"/>
            <a:ext cx="1566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ko-KR" altLang="en-US" sz="1400" dirty="0"/>
              <a:t>사용 가능한 기술</a:t>
            </a:r>
            <a:endParaRPr lang="en-US" altLang="ko-KR" sz="14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83A297-DCCA-4F54-A4C0-2C22063EECB9}"/>
              </a:ext>
            </a:extLst>
          </p:cNvPr>
          <p:cNvSpPr/>
          <p:nvPr/>
        </p:nvSpPr>
        <p:spPr>
          <a:xfrm>
            <a:off x="1570338" y="817229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0F7E716-B4A0-4979-98B2-D07E74BC91E2}"/>
              </a:ext>
            </a:extLst>
          </p:cNvPr>
          <p:cNvSpPr/>
          <p:nvPr/>
        </p:nvSpPr>
        <p:spPr>
          <a:xfrm>
            <a:off x="1555922" y="331664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</a:t>
            </a:r>
            <a:endParaRPr lang="ko-KR" altLang="en-US" sz="10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323FB15-CD89-4B37-AC1E-61111EE31C2E}"/>
              </a:ext>
            </a:extLst>
          </p:cNvPr>
          <p:cNvSpPr/>
          <p:nvPr/>
        </p:nvSpPr>
        <p:spPr>
          <a:xfrm>
            <a:off x="1553863" y="518003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5</a:t>
            </a:r>
            <a:endParaRPr lang="ko-KR" altLang="en-US" sz="1000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47C8753-28D1-4102-8B86-171176F1D4B4}"/>
              </a:ext>
            </a:extLst>
          </p:cNvPr>
          <p:cNvSpPr/>
          <p:nvPr/>
        </p:nvSpPr>
        <p:spPr>
          <a:xfrm>
            <a:off x="1659924" y="2542203"/>
            <a:ext cx="4596713" cy="3077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대학생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943544-2E50-4F1F-928B-600D3028BAE5}"/>
              </a:ext>
            </a:extLst>
          </p:cNvPr>
          <p:cNvSpPr txBox="1"/>
          <p:nvPr/>
        </p:nvSpPr>
        <p:spPr>
          <a:xfrm>
            <a:off x="1659925" y="2234426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ko-KR" altLang="en-US" sz="1400" dirty="0"/>
              <a:t>경력</a:t>
            </a:r>
            <a:endParaRPr lang="en-US" altLang="ko-KR" sz="1400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CEE7784-DDEA-4A6A-AEF8-19303B4B2190}"/>
              </a:ext>
            </a:extLst>
          </p:cNvPr>
          <p:cNvSpPr/>
          <p:nvPr/>
        </p:nvSpPr>
        <p:spPr>
          <a:xfrm>
            <a:off x="2381766" y="1190734"/>
            <a:ext cx="3874872" cy="3077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JAVA, Spring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676D17-FB70-4873-ACC7-B357424F9BFD}"/>
              </a:ext>
            </a:extLst>
          </p:cNvPr>
          <p:cNvSpPr txBox="1"/>
          <p:nvPr/>
        </p:nvSpPr>
        <p:spPr>
          <a:xfrm>
            <a:off x="1659925" y="882957"/>
            <a:ext cx="1144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ko-KR" altLang="en-US" sz="1400" dirty="0"/>
              <a:t>지원 포지션</a:t>
            </a:r>
            <a:endParaRPr lang="en-US" altLang="ko-KR" sz="1400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13C2C05-32B3-4B00-A2F0-B2CDFE8251ED}"/>
              </a:ext>
            </a:extLst>
          </p:cNvPr>
          <p:cNvSpPr/>
          <p:nvPr/>
        </p:nvSpPr>
        <p:spPr>
          <a:xfrm>
            <a:off x="1659924" y="1188240"/>
            <a:ext cx="632254" cy="3077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백엔드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5C2255D-592B-410A-B6C8-CF2178A59152}"/>
              </a:ext>
            </a:extLst>
          </p:cNvPr>
          <p:cNvSpPr/>
          <p:nvPr/>
        </p:nvSpPr>
        <p:spPr>
          <a:xfrm>
            <a:off x="1570338" y="155830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endParaRPr lang="ko-KR" altLang="en-US" sz="10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6536846-43A6-4FC3-B9A8-360A2269C061}"/>
              </a:ext>
            </a:extLst>
          </p:cNvPr>
          <p:cNvSpPr/>
          <p:nvPr/>
        </p:nvSpPr>
        <p:spPr>
          <a:xfrm>
            <a:off x="1549744" y="224153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3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722356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DE67B57-CC40-4EB9-96D7-6431E89F8ED4}"/>
              </a:ext>
            </a:extLst>
          </p:cNvPr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Dv-104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팀 프로젝트 신청완료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Dv-req-004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유저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박병호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</a:t>
                      </a: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</a:t>
                      </a: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4.</a:t>
                      </a: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5.</a:t>
                      </a: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688F0F5-B67A-429C-AD5D-6CF89E66711C}"/>
              </a:ext>
            </a:extLst>
          </p:cNvPr>
          <p:cNvSpPr txBox="1"/>
          <p:nvPr/>
        </p:nvSpPr>
        <p:spPr>
          <a:xfrm>
            <a:off x="3769580" y="259296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ko-KR" altLang="en-US" sz="1400"/>
              <a:t>신청완료</a:t>
            </a:r>
            <a:endParaRPr lang="en-US" altLang="ko-KR" sz="1400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6F6532C-F666-4AC6-94FA-D11E2FEA6B06}"/>
              </a:ext>
            </a:extLst>
          </p:cNvPr>
          <p:cNvSpPr/>
          <p:nvPr/>
        </p:nvSpPr>
        <p:spPr>
          <a:xfrm>
            <a:off x="2641903" y="3146127"/>
            <a:ext cx="1579082" cy="2828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프로젝트 정보 보기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5B53042-BD55-406C-A0EE-9705DF27816F}"/>
              </a:ext>
            </a:extLst>
          </p:cNvPr>
          <p:cNvSpPr/>
          <p:nvPr/>
        </p:nvSpPr>
        <p:spPr>
          <a:xfrm>
            <a:off x="4474822" y="3146126"/>
            <a:ext cx="869475" cy="2828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홈으로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11560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DE67B57-CC40-4EB9-96D7-6431E89F8ED4}"/>
              </a:ext>
            </a:extLst>
          </p:cNvPr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Dv-105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팀 프로젝트 생성화면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Dv-req-005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유저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박병호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프로젝트 설명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프로젝트 기간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모집 기술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진행방식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모집하기 버튼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72A22E1-22A3-4198-9D79-312339EDA6FF}"/>
              </a:ext>
            </a:extLst>
          </p:cNvPr>
          <p:cNvSpPr/>
          <p:nvPr/>
        </p:nvSpPr>
        <p:spPr>
          <a:xfrm>
            <a:off x="399535" y="5962800"/>
            <a:ext cx="1256270" cy="2828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모집하기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42BA2A6-31F2-4F08-B12F-C4B9E3266997}"/>
              </a:ext>
            </a:extLst>
          </p:cNvPr>
          <p:cNvSpPr/>
          <p:nvPr/>
        </p:nvSpPr>
        <p:spPr>
          <a:xfrm>
            <a:off x="387179" y="2620940"/>
            <a:ext cx="4596713" cy="3077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프로젝트 진행 프로젝트 진행 프로젝트 진행 프로젝트 진행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F8D8C2-2C29-491B-9123-9709F1671D9C}"/>
              </a:ext>
            </a:extLst>
          </p:cNvPr>
          <p:cNvSpPr txBox="1"/>
          <p:nvPr/>
        </p:nvSpPr>
        <p:spPr>
          <a:xfrm>
            <a:off x="387179" y="2274452"/>
            <a:ext cx="1324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ko-KR" altLang="en-US" sz="1400" dirty="0"/>
              <a:t>프로젝트 설명</a:t>
            </a:r>
            <a:endParaRPr lang="en-US" altLang="ko-KR" sz="14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E9402D7-72E7-4FEC-BDD5-5B0EF7CE2D22}"/>
              </a:ext>
            </a:extLst>
          </p:cNvPr>
          <p:cNvSpPr/>
          <p:nvPr/>
        </p:nvSpPr>
        <p:spPr>
          <a:xfrm>
            <a:off x="387179" y="1824404"/>
            <a:ext cx="4596713" cy="3077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프로젝트 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6C49AE-8F89-471F-8747-857F57AC0F04}"/>
              </a:ext>
            </a:extLst>
          </p:cNvPr>
          <p:cNvSpPr txBox="1"/>
          <p:nvPr/>
        </p:nvSpPr>
        <p:spPr>
          <a:xfrm>
            <a:off x="387179" y="1477916"/>
            <a:ext cx="1144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ko-KR" altLang="en-US" sz="1400" dirty="0"/>
              <a:t>프로젝트 명</a:t>
            </a:r>
            <a:endParaRPr lang="en-US" altLang="ko-KR" sz="1400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335EFE0-B864-4DB0-8228-A3C1B1B0D5A2}"/>
              </a:ext>
            </a:extLst>
          </p:cNvPr>
          <p:cNvSpPr/>
          <p:nvPr/>
        </p:nvSpPr>
        <p:spPr>
          <a:xfrm>
            <a:off x="387179" y="3400129"/>
            <a:ext cx="4596713" cy="3077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2022/02/03 ~ 2022/03/02 (1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개월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26AEFE-08C5-4C0A-B077-8EFC1E701A72}"/>
              </a:ext>
            </a:extLst>
          </p:cNvPr>
          <p:cNvSpPr txBox="1"/>
          <p:nvPr/>
        </p:nvSpPr>
        <p:spPr>
          <a:xfrm>
            <a:off x="387179" y="3053641"/>
            <a:ext cx="1324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ko-KR" altLang="en-US" sz="1400" dirty="0"/>
              <a:t>프로젝트 기간</a:t>
            </a:r>
            <a:endParaRPr lang="en-US" altLang="ko-KR" sz="1400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11A4215-848A-4717-840B-92B54491BBAB}"/>
              </a:ext>
            </a:extLst>
          </p:cNvPr>
          <p:cNvSpPr/>
          <p:nvPr/>
        </p:nvSpPr>
        <p:spPr>
          <a:xfrm>
            <a:off x="387178" y="4179318"/>
            <a:ext cx="4596713" cy="3077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Spring – 2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명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React.js - 2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명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197F11-DCA4-41B9-A7E2-BA2DD5B61461}"/>
              </a:ext>
            </a:extLst>
          </p:cNvPr>
          <p:cNvSpPr txBox="1"/>
          <p:nvPr/>
        </p:nvSpPr>
        <p:spPr>
          <a:xfrm>
            <a:off x="387179" y="3848688"/>
            <a:ext cx="965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ko-KR" altLang="en-US" sz="1400" dirty="0"/>
              <a:t>모집 기술</a:t>
            </a:r>
            <a:endParaRPr lang="en-US" altLang="ko-KR" sz="14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B257707-3F94-4B0F-A995-53D5AF11B47D}"/>
              </a:ext>
            </a:extLst>
          </p:cNvPr>
          <p:cNvSpPr/>
          <p:nvPr/>
        </p:nvSpPr>
        <p:spPr>
          <a:xfrm>
            <a:off x="398978" y="4924818"/>
            <a:ext cx="4596713" cy="3077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온라인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9BB6EE-79E6-4869-B417-E80303A64BB2}"/>
              </a:ext>
            </a:extLst>
          </p:cNvPr>
          <p:cNvSpPr txBox="1"/>
          <p:nvPr/>
        </p:nvSpPr>
        <p:spPr>
          <a:xfrm>
            <a:off x="398979" y="459418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ko-KR" altLang="en-US" sz="1400" dirty="0"/>
              <a:t>진행방식</a:t>
            </a:r>
            <a:endParaRPr lang="en-US" altLang="ko-KR" sz="14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E845BB6-3F87-4567-B1E4-CA20D4B0B8FB}"/>
              </a:ext>
            </a:extLst>
          </p:cNvPr>
          <p:cNvSpPr/>
          <p:nvPr/>
        </p:nvSpPr>
        <p:spPr>
          <a:xfrm>
            <a:off x="309391" y="140783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A42C379-DB88-4587-AD90-10540A0D7B90}"/>
              </a:ext>
            </a:extLst>
          </p:cNvPr>
          <p:cNvSpPr/>
          <p:nvPr/>
        </p:nvSpPr>
        <p:spPr>
          <a:xfrm>
            <a:off x="297591" y="222585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endParaRPr lang="ko-KR" altLang="en-US" sz="10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91498A2-A3B1-4E97-9B57-7A70B942C691}"/>
              </a:ext>
            </a:extLst>
          </p:cNvPr>
          <p:cNvSpPr/>
          <p:nvPr/>
        </p:nvSpPr>
        <p:spPr>
          <a:xfrm>
            <a:off x="297590" y="30391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3</a:t>
            </a:r>
            <a:endParaRPr lang="ko-KR" altLang="en-US" sz="10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EEF1563-169A-4A6D-8FE6-2151F25FD07B}"/>
              </a:ext>
            </a:extLst>
          </p:cNvPr>
          <p:cNvSpPr/>
          <p:nvPr/>
        </p:nvSpPr>
        <p:spPr>
          <a:xfrm>
            <a:off x="297589" y="381459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</a:t>
            </a:r>
            <a:endParaRPr lang="ko-KR" altLang="en-US" sz="10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0A36412-FD7E-4880-8FFC-D685E7771D86}"/>
              </a:ext>
            </a:extLst>
          </p:cNvPr>
          <p:cNvSpPr/>
          <p:nvPr/>
        </p:nvSpPr>
        <p:spPr>
          <a:xfrm>
            <a:off x="297588" y="459001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5</a:t>
            </a:r>
            <a:endParaRPr lang="ko-KR" altLang="en-US" sz="10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DAC909E-E281-4DC6-8946-6ED7D75EC81E}"/>
              </a:ext>
            </a:extLst>
          </p:cNvPr>
          <p:cNvSpPr/>
          <p:nvPr/>
        </p:nvSpPr>
        <p:spPr>
          <a:xfrm>
            <a:off x="309391" y="578580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6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2261824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DE67B57-CC40-4EB9-96D7-6431E89F8ED4}"/>
              </a:ext>
            </a:extLst>
          </p:cNvPr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Dv-106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팀 프로젝트 생성완료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Dv-req-006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유저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박병호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688F0F5-B67A-429C-AD5D-6CF89E66711C}"/>
              </a:ext>
            </a:extLst>
          </p:cNvPr>
          <p:cNvSpPr txBox="1"/>
          <p:nvPr/>
        </p:nvSpPr>
        <p:spPr>
          <a:xfrm>
            <a:off x="3769580" y="2592963"/>
            <a:ext cx="965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ko-KR" altLang="en-US" sz="1400" dirty="0"/>
              <a:t> 생성완료</a:t>
            </a:r>
            <a:endParaRPr lang="en-US" altLang="ko-KR" sz="1400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6F6532C-F666-4AC6-94FA-D11E2FEA6B06}"/>
              </a:ext>
            </a:extLst>
          </p:cNvPr>
          <p:cNvSpPr/>
          <p:nvPr/>
        </p:nvSpPr>
        <p:spPr>
          <a:xfrm>
            <a:off x="2641903" y="3146127"/>
            <a:ext cx="1579082" cy="2828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프로젝트 정보 보기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5B53042-BD55-406C-A0EE-9705DF27816F}"/>
              </a:ext>
            </a:extLst>
          </p:cNvPr>
          <p:cNvSpPr/>
          <p:nvPr/>
        </p:nvSpPr>
        <p:spPr>
          <a:xfrm>
            <a:off x="4474822" y="3146126"/>
            <a:ext cx="869475" cy="2828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홈으로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7569448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DE67B57-CC40-4EB9-96D7-6431E89F8ED4}"/>
              </a:ext>
            </a:extLst>
          </p:cNvPr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Dv-107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프로젝트 지원자 리스트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Dv-req-007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Dv-101</a:t>
                      </a:r>
                      <a:r>
                        <a:rPr lang="ko-KR" altLang="en-US" sz="1000" dirty="0"/>
                        <a:t> 프로젝트 현황에서 보이는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유저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박병호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지원자 리스트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지원자 정보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수락버튼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거절버튼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688F0F5-B67A-429C-AD5D-6CF89E66711C}"/>
              </a:ext>
            </a:extLst>
          </p:cNvPr>
          <p:cNvSpPr txBox="1"/>
          <p:nvPr/>
        </p:nvSpPr>
        <p:spPr>
          <a:xfrm>
            <a:off x="278945" y="903279"/>
            <a:ext cx="1386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ko-KR" altLang="en-US" sz="1400"/>
              <a:t> 지원자 리스트</a:t>
            </a:r>
            <a:endParaRPr lang="en-US" altLang="ko-KR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5B53042-BD55-406C-A0EE-9705DF27816F}"/>
              </a:ext>
            </a:extLst>
          </p:cNvPr>
          <p:cNvSpPr/>
          <p:nvPr/>
        </p:nvSpPr>
        <p:spPr>
          <a:xfrm>
            <a:off x="1824298" y="1564463"/>
            <a:ext cx="869475" cy="2828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수락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C36EEE3-19A7-4343-A496-A3E3A5F11D9A}"/>
              </a:ext>
            </a:extLst>
          </p:cNvPr>
          <p:cNvSpPr/>
          <p:nvPr/>
        </p:nvSpPr>
        <p:spPr>
          <a:xfrm>
            <a:off x="2804600" y="1564463"/>
            <a:ext cx="869475" cy="2828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거절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71AB0D-66AA-4921-A617-D816F4F0BD55}"/>
              </a:ext>
            </a:extLst>
          </p:cNvPr>
          <p:cNvSpPr txBox="1"/>
          <p:nvPr/>
        </p:nvSpPr>
        <p:spPr>
          <a:xfrm>
            <a:off x="387949" y="1530022"/>
            <a:ext cx="1168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n-US" altLang="ko-KR" sz="1400" dirty="0" err="1"/>
              <a:t>Honghil</a:t>
            </a:r>
            <a:r>
              <a:rPr lang="en-US" altLang="ko-KR" sz="1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[lv2]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7DB993-FE74-4EC0-806A-CC51AC3E79AB}"/>
              </a:ext>
            </a:extLst>
          </p:cNvPr>
          <p:cNvSpPr txBox="1"/>
          <p:nvPr/>
        </p:nvSpPr>
        <p:spPr>
          <a:xfrm>
            <a:off x="387949" y="1903451"/>
            <a:ext cx="1988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ko-KR" altLang="en-US" sz="1400" dirty="0"/>
              <a:t>포지션 </a:t>
            </a:r>
            <a:r>
              <a:rPr lang="en-US" altLang="ko-KR" sz="1400" dirty="0"/>
              <a:t>: JAVA, </a:t>
            </a:r>
            <a:r>
              <a:rPr lang="ko-KR" altLang="en-US" sz="1400" dirty="0" err="1"/>
              <a:t>백엔드</a:t>
            </a:r>
            <a:endParaRPr lang="en-US" altLang="ko-KR" sz="1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0BF3A4-8D78-4A4A-A052-5F5B1A975272}"/>
              </a:ext>
            </a:extLst>
          </p:cNvPr>
          <p:cNvSpPr txBox="1"/>
          <p:nvPr/>
        </p:nvSpPr>
        <p:spPr>
          <a:xfrm>
            <a:off x="387949" y="2267343"/>
            <a:ext cx="2252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ko-KR" altLang="en-US" sz="1400" dirty="0"/>
              <a:t>경력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백엔드</a:t>
            </a:r>
            <a:r>
              <a:rPr lang="ko-KR" altLang="en-US" sz="1400" dirty="0"/>
              <a:t> 개발 </a:t>
            </a:r>
            <a:r>
              <a:rPr lang="en-US" altLang="ko-KR" sz="1400" dirty="0"/>
              <a:t>1</a:t>
            </a:r>
            <a:r>
              <a:rPr lang="ko-KR" altLang="en-US" sz="1400" dirty="0" err="1"/>
              <a:t>년차</a:t>
            </a:r>
            <a:endParaRPr lang="en-US" altLang="ko-KR" sz="1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D7A89BF-AA6C-4D99-8709-2B098E8A1497}"/>
              </a:ext>
            </a:extLst>
          </p:cNvPr>
          <p:cNvSpPr/>
          <p:nvPr/>
        </p:nvSpPr>
        <p:spPr>
          <a:xfrm>
            <a:off x="1824298" y="3112033"/>
            <a:ext cx="869475" cy="2828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수락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35769CB-4CAC-4D8F-A282-0B2FD71762F0}"/>
              </a:ext>
            </a:extLst>
          </p:cNvPr>
          <p:cNvSpPr/>
          <p:nvPr/>
        </p:nvSpPr>
        <p:spPr>
          <a:xfrm>
            <a:off x="2804600" y="3112033"/>
            <a:ext cx="869475" cy="2828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거절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205AA5-CB08-4AAF-B374-459B8817FA89}"/>
              </a:ext>
            </a:extLst>
          </p:cNvPr>
          <p:cNvSpPr txBox="1"/>
          <p:nvPr/>
        </p:nvSpPr>
        <p:spPr>
          <a:xfrm>
            <a:off x="387949" y="3077592"/>
            <a:ext cx="1168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n-US" altLang="ko-KR" sz="1400" dirty="0" err="1"/>
              <a:t>Honghil</a:t>
            </a:r>
            <a:r>
              <a:rPr lang="en-US" altLang="ko-KR" sz="1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[lv2]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84E3C8-F0A3-466E-9A15-2EEA334068EC}"/>
              </a:ext>
            </a:extLst>
          </p:cNvPr>
          <p:cNvSpPr txBox="1"/>
          <p:nvPr/>
        </p:nvSpPr>
        <p:spPr>
          <a:xfrm>
            <a:off x="387949" y="3451021"/>
            <a:ext cx="1988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ko-KR" altLang="en-US" sz="1400" dirty="0"/>
              <a:t>포지션 </a:t>
            </a:r>
            <a:r>
              <a:rPr lang="en-US" altLang="ko-KR" sz="1400" dirty="0"/>
              <a:t>: JAVA, </a:t>
            </a:r>
            <a:r>
              <a:rPr lang="ko-KR" altLang="en-US" sz="1400" dirty="0" err="1"/>
              <a:t>백엔드</a:t>
            </a:r>
            <a:endParaRPr lang="en-US" altLang="ko-KR" sz="1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2CD394-C3EF-4275-80C4-28E30986F29C}"/>
              </a:ext>
            </a:extLst>
          </p:cNvPr>
          <p:cNvSpPr txBox="1"/>
          <p:nvPr/>
        </p:nvSpPr>
        <p:spPr>
          <a:xfrm>
            <a:off x="387949" y="3814913"/>
            <a:ext cx="2252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ko-KR" altLang="en-US" sz="1400" dirty="0"/>
              <a:t>경력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백엔드</a:t>
            </a:r>
            <a:r>
              <a:rPr lang="ko-KR" altLang="en-US" sz="1400" dirty="0"/>
              <a:t> 개발 </a:t>
            </a:r>
            <a:r>
              <a:rPr lang="en-US" altLang="ko-KR" sz="1400" dirty="0"/>
              <a:t>1</a:t>
            </a:r>
            <a:r>
              <a:rPr lang="ko-KR" altLang="en-US" sz="1400" dirty="0" err="1"/>
              <a:t>년차</a:t>
            </a:r>
            <a:endParaRPr lang="en-US" altLang="ko-KR" sz="1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A2826EE-7719-4435-8C3A-CA1562937AAB}"/>
              </a:ext>
            </a:extLst>
          </p:cNvPr>
          <p:cNvSpPr/>
          <p:nvPr/>
        </p:nvSpPr>
        <p:spPr>
          <a:xfrm>
            <a:off x="278945" y="77160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415C96A-693E-4BDF-B39B-0FA8EB02908B}"/>
              </a:ext>
            </a:extLst>
          </p:cNvPr>
          <p:cNvSpPr/>
          <p:nvPr/>
        </p:nvSpPr>
        <p:spPr>
          <a:xfrm>
            <a:off x="368531" y="139834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endParaRPr lang="ko-KR" altLang="en-US" sz="10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4D458C8-6C2E-401B-948E-BC4F1A4DDF9E}"/>
              </a:ext>
            </a:extLst>
          </p:cNvPr>
          <p:cNvSpPr/>
          <p:nvPr/>
        </p:nvSpPr>
        <p:spPr>
          <a:xfrm>
            <a:off x="1763233" y="139688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3</a:t>
            </a:r>
            <a:endParaRPr lang="ko-KR" altLang="en-US" sz="10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220306A-A0CD-49E9-97EA-2A16D16DF2DC}"/>
              </a:ext>
            </a:extLst>
          </p:cNvPr>
          <p:cNvSpPr/>
          <p:nvPr/>
        </p:nvSpPr>
        <p:spPr>
          <a:xfrm>
            <a:off x="2756849" y="137350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9183384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DE67B57-CC40-4EB9-96D7-6431E89F8ED4}"/>
              </a:ext>
            </a:extLst>
          </p:cNvPr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Dv-108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프로젝트 지원자 리스트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Dv-req-008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Dv-101</a:t>
                      </a:r>
                      <a:r>
                        <a:rPr lang="ko-KR" altLang="en-US" sz="1000" dirty="0"/>
                        <a:t> 프로젝트 현황에서 보이는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유저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박병호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지원현황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지원상태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취소버튼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688F0F5-B67A-429C-AD5D-6CF89E66711C}"/>
              </a:ext>
            </a:extLst>
          </p:cNvPr>
          <p:cNvSpPr txBox="1"/>
          <p:nvPr/>
        </p:nvSpPr>
        <p:spPr>
          <a:xfrm>
            <a:off x="278945" y="903279"/>
            <a:ext cx="1745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ko-KR" altLang="en-US" sz="1400" dirty="0"/>
              <a:t>프로젝트 지원 현황</a:t>
            </a:r>
            <a:endParaRPr lang="en-US" altLang="ko-KR" sz="14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A2826EE-7719-4435-8C3A-CA1562937AAB}"/>
              </a:ext>
            </a:extLst>
          </p:cNvPr>
          <p:cNvSpPr/>
          <p:nvPr/>
        </p:nvSpPr>
        <p:spPr>
          <a:xfrm>
            <a:off x="278945" y="77160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415C96A-693E-4BDF-B39B-0FA8EB02908B}"/>
              </a:ext>
            </a:extLst>
          </p:cNvPr>
          <p:cNvSpPr/>
          <p:nvPr/>
        </p:nvSpPr>
        <p:spPr>
          <a:xfrm>
            <a:off x="6393933" y="175751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endParaRPr lang="ko-KR" altLang="en-US" sz="1000" dirty="0"/>
          </a:p>
        </p:txBody>
      </p:sp>
      <p:graphicFrame>
        <p:nvGraphicFramePr>
          <p:cNvPr id="20" name="표 5">
            <a:extLst>
              <a:ext uri="{FF2B5EF4-FFF2-40B4-BE49-F238E27FC236}">
                <a16:creationId xmlns:a16="http://schemas.microsoft.com/office/drawing/2014/main" id="{90F4697D-B477-4E1C-A7FB-8EB91245567F}"/>
              </a:ext>
            </a:extLst>
          </p:cNvPr>
          <p:cNvGraphicFramePr>
            <a:graphicFrameLocks noGrp="1"/>
          </p:cNvGraphicFramePr>
          <p:nvPr/>
        </p:nvGraphicFramePr>
        <p:xfrm>
          <a:off x="368531" y="1460126"/>
          <a:ext cx="6940491" cy="7924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842659">
                  <a:extLst>
                    <a:ext uri="{9D8B030D-6E8A-4147-A177-3AD203B41FA5}">
                      <a16:colId xmlns:a16="http://schemas.microsoft.com/office/drawing/2014/main" val="3760704791"/>
                    </a:ext>
                  </a:extLst>
                </a:gridCol>
                <a:gridCol w="2183499">
                  <a:extLst>
                    <a:ext uri="{9D8B030D-6E8A-4147-A177-3AD203B41FA5}">
                      <a16:colId xmlns:a16="http://schemas.microsoft.com/office/drawing/2014/main" val="2485824106"/>
                    </a:ext>
                  </a:extLst>
                </a:gridCol>
                <a:gridCol w="628455">
                  <a:extLst>
                    <a:ext uri="{9D8B030D-6E8A-4147-A177-3AD203B41FA5}">
                      <a16:colId xmlns:a16="http://schemas.microsoft.com/office/drawing/2014/main" val="667852636"/>
                    </a:ext>
                  </a:extLst>
                </a:gridCol>
                <a:gridCol w="960179">
                  <a:extLst>
                    <a:ext uri="{9D8B030D-6E8A-4147-A177-3AD203B41FA5}">
                      <a16:colId xmlns:a16="http://schemas.microsoft.com/office/drawing/2014/main" val="1776519138"/>
                    </a:ext>
                  </a:extLst>
                </a:gridCol>
                <a:gridCol w="801908">
                  <a:extLst>
                    <a:ext uri="{9D8B030D-6E8A-4147-A177-3AD203B41FA5}">
                      <a16:colId xmlns:a16="http://schemas.microsoft.com/office/drawing/2014/main" val="835239357"/>
                    </a:ext>
                  </a:extLst>
                </a:gridCol>
                <a:gridCol w="638361">
                  <a:extLst>
                    <a:ext uri="{9D8B030D-6E8A-4147-A177-3AD203B41FA5}">
                      <a16:colId xmlns:a16="http://schemas.microsoft.com/office/drawing/2014/main" val="4249604397"/>
                    </a:ext>
                  </a:extLst>
                </a:gridCol>
                <a:gridCol w="885430">
                  <a:extLst>
                    <a:ext uri="{9D8B030D-6E8A-4147-A177-3AD203B41FA5}">
                      <a16:colId xmlns:a16="http://schemas.microsoft.com/office/drawing/2014/main" val="3149292789"/>
                    </a:ext>
                  </a:extLst>
                </a:gridCol>
              </a:tblGrid>
              <a:tr h="2573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팀장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프로젝트 명   </a:t>
                      </a:r>
                      <a:r>
                        <a:rPr lang="en-US" altLang="ko-KR" sz="10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?</a:t>
                      </a:r>
                      <a:endParaRPr lang="ko-KR" altLang="en-US" sz="10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진행방식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모집 기술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현재인원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지원상태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664138"/>
                  </a:ext>
                </a:extLst>
              </a:tr>
              <a:tr h="2573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wsmkkk2</a:t>
                      </a:r>
                      <a:r>
                        <a:rPr lang="en-US" altLang="ko-KR" sz="10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[lv5]</a:t>
                      </a:r>
                      <a:endParaRPr lang="ko-KR" altLang="en-US" sz="100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부동산 앱 프로젝트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5</a:t>
                      </a:r>
                      <a:r>
                        <a:rPr lang="ko-KR" altLang="en-US" sz="1000" dirty="0"/>
                        <a:t>개월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온라인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Spring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[2]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3/5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[</a:t>
                      </a:r>
                      <a:r>
                        <a:rPr lang="ko-KR" altLang="en-US" sz="1000" dirty="0" err="1"/>
                        <a:t>확인중</a:t>
                      </a:r>
                      <a:r>
                        <a:rPr lang="en-US" altLang="ko-KR" sz="1000" dirty="0"/>
                        <a:t>]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613559"/>
                  </a:ext>
                </a:extLst>
              </a:tr>
            </a:tbl>
          </a:graphicData>
        </a:graphic>
      </p:graphicFrame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FB51AD8-4C06-46EA-AD22-B78AA288FF7E}"/>
              </a:ext>
            </a:extLst>
          </p:cNvPr>
          <p:cNvSpPr/>
          <p:nvPr/>
        </p:nvSpPr>
        <p:spPr>
          <a:xfrm>
            <a:off x="7370117" y="1913428"/>
            <a:ext cx="869475" cy="2828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취소</a:t>
            </a:r>
            <a:endParaRPr lang="ko-KR" altLang="en-US" sz="12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034E8A7-B109-4A16-9E8B-ED736A1F0607}"/>
              </a:ext>
            </a:extLst>
          </p:cNvPr>
          <p:cNvSpPr/>
          <p:nvPr/>
        </p:nvSpPr>
        <p:spPr>
          <a:xfrm>
            <a:off x="7309022" y="1767999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3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174412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2075" y="89535"/>
          <a:ext cx="11993245" cy="664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화면 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dv-201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</a:t>
                      </a:r>
                      <a:r>
                        <a:rPr lang="ko-KR" altLang="en-US" sz="1000" i="0" kern="1200">
                          <a:solidFill>
                            <a:srgbClr val="000000"/>
                          </a:solidFill>
                        </a:rPr>
                        <a:t>면</a:t>
                      </a: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지도 API &amp; 해당 지역 스터디 조회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요구사항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dv-req-201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스터디 모임을 지역별로 찾을 수 있게 한다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김도연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670">
                <a:tc gridSpan="4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- 지도</a:t>
                      </a: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1. 지역 검색가능 (select창)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2. 현재 지역내에 참여 가능한 스터디의 수를 표현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3. 2번을 클릭 시 해당하는 지역내의 스터디 목록 조회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- 스터디 목록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1. ‘대구’ 지역을 선택 했을 시 대구 지역의 스터디만 조회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2. 배우고 싶은 언어 선택 기능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3. 난이도 체크박스 선택 시 선택한 난이도만 조회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4. 스터디명, 팀장, 모임정보, 등록일자, 현재참가인원을 나타냄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게시글 클릭 시, 게시글 상세정보 보기 페이지로 이동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6" descr="C:/Users/admin/AppData/Roaming/PolarisOffice/ETemp/7788_20355032/fImage292131224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01975" y="2020570"/>
            <a:ext cx="2019935" cy="2510155"/>
          </a:xfrm>
          <a:prstGeom prst="rect">
            <a:avLst/>
          </a:prstGeom>
          <a:noFill/>
        </p:spPr>
      </p:pic>
      <p:pic>
        <p:nvPicPr>
          <p:cNvPr id="7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05" y="675005"/>
            <a:ext cx="8261350" cy="1254125"/>
          </a:xfrm>
          <a:prstGeom prst="rect">
            <a:avLst/>
          </a:prstGeom>
          <a:noFill/>
        </p:spPr>
      </p:pic>
      <p:pic>
        <p:nvPicPr>
          <p:cNvPr id="8" name="그림 2" descr="C:/Users/admin/AppData/Roaming/PolarisOffice/ETemp/7788_20355032/fImage214181218467.png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" y="4565015"/>
            <a:ext cx="7613015" cy="19024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824386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3"/>
          <p:cNvGraphicFramePr>
            <a:graphicFrameLocks noGrp="1"/>
          </p:cNvGraphicFramePr>
          <p:nvPr/>
        </p:nvGraphicFramePr>
        <p:xfrm>
          <a:off x="92075" y="90805"/>
          <a:ext cx="11993245" cy="6648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화면 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dv-202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</a:t>
                      </a:r>
                      <a:r>
                        <a:rPr lang="ko-KR" altLang="en-US" sz="1000" i="0" kern="1200">
                          <a:solidFill>
                            <a:srgbClr val="000000"/>
                          </a:solidFill>
                        </a:rPr>
                        <a:t>면</a:t>
                      </a: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스터디 상세페이지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요구사항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dv-req-202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스터디장이 적은 글을 세부적으로 볼 수 있다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김도연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670">
                <a:tc gridSpan="4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1. 제목, 팀장명, 등록일자가 나타남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2. 게시글의 중앙부에 관련 상세글이 나타남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3. ‘신청’을 누를 시 신청 양식 폼(모달창) 나타남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4. ‘목록’을 누를 시 지역 내 스터디 모임 목록으로 이동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5. ‘문의’를 누를 시 팀장과 채팅폼이 열리고 문의가능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7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590" y="2095500"/>
            <a:ext cx="7936230" cy="3881120"/>
          </a:xfrm>
          <a:prstGeom prst="rect">
            <a:avLst/>
          </a:prstGeom>
          <a:noFill/>
        </p:spPr>
      </p:pic>
      <p:pic>
        <p:nvPicPr>
          <p:cNvPr id="7" name="그림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05" y="675005"/>
            <a:ext cx="8261350" cy="1254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3"/>
          <p:cNvGraphicFramePr>
            <a:graphicFrameLocks noGrp="1"/>
          </p:cNvGraphicFramePr>
          <p:nvPr/>
        </p:nvGraphicFramePr>
        <p:xfrm>
          <a:off x="92075" y="89535"/>
          <a:ext cx="11993245" cy="664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화면 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dv-203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</a:t>
                      </a:r>
                      <a:r>
                        <a:rPr lang="ko-KR" altLang="en-US" sz="1000" i="0" kern="1200">
                          <a:solidFill>
                            <a:srgbClr val="000000"/>
                          </a:solidFill>
                        </a:rPr>
                        <a:t>면</a:t>
                      </a: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스티디그룹원 신청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요구사항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dv-req-203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게시글 상세보기에서 신청하기를 누를 시 간단한 입력창이 뜬다.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김도연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670">
                <a:tc gridSpan="4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- 모달창</a:t>
                      </a: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1. 상단에 닉네임 표시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2. 간단소개, 연락처, 경력을 입력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3. 보내기를 누를 시 신청 완료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각 스터디의 팀장이 수락/거절로 최종승인을 하게됨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그림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05" y="675005"/>
            <a:ext cx="8261350" cy="1254125"/>
          </a:xfrm>
          <a:prstGeom prst="rect">
            <a:avLst/>
          </a:prstGeom>
          <a:noFill/>
        </p:spPr>
      </p:pic>
      <p:pic>
        <p:nvPicPr>
          <p:cNvPr id="8" name="그림 5" descr="C:/Users/admin/AppData/Roaming/PolarisOffice/ETemp/7788_20355032/fImage205631236334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590" y="2095500"/>
            <a:ext cx="7936865" cy="3881755"/>
          </a:xfrm>
          <a:prstGeom prst="rect">
            <a:avLst/>
          </a:prstGeom>
          <a:noFill/>
        </p:spPr>
      </p:pic>
      <p:pic>
        <p:nvPicPr>
          <p:cNvPr id="6" name="그림 8" descr="C:/Users/admin/AppData/Roaming/PolarisOffice/ETemp/7788_20355032/fImage97161246500.png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8035" y="2145030"/>
            <a:ext cx="2067560" cy="32010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3"/>
          <p:cNvGraphicFramePr>
            <a:graphicFrameLocks noGrp="1"/>
          </p:cNvGraphicFramePr>
          <p:nvPr/>
        </p:nvGraphicFramePr>
        <p:xfrm>
          <a:off x="92075" y="89535"/>
          <a:ext cx="11993245" cy="664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화면 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dv-205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</a:t>
                      </a:r>
                      <a:r>
                        <a:rPr lang="ko-KR" altLang="en-US" sz="1000" i="0" kern="1200">
                          <a:solidFill>
                            <a:srgbClr val="000000"/>
                          </a:solidFill>
                        </a:rPr>
                        <a:t>면</a:t>
                      </a: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신청자 신청정보 알림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요구사항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dv-req-205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스터디 팀장에게 신청자 정보가 보내진다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김도연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670">
                <a:tc gridSpan="4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1. 신청자의 간단한 정보를 열람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2. 수락과 거절로 스터디모임에 참가여부를 결정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10" descr="C:/Users/admin/AppData/Roaming/PolarisOffice/ETemp/7788_20355032/fImage91411279169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1655" y="2221230"/>
            <a:ext cx="2287270" cy="3348990"/>
          </a:xfrm>
          <a:prstGeom prst="rect">
            <a:avLst/>
          </a:prstGeom>
          <a:noFill/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05" y="675005"/>
            <a:ext cx="8261350" cy="1254125"/>
          </a:xfrm>
          <a:prstGeom prst="rect">
            <a:avLst/>
          </a:prstGeom>
          <a:noFill/>
        </p:spPr>
      </p:pic>
      <p:pic>
        <p:nvPicPr>
          <p:cNvPr id="8" name="그림 12" descr="C:/Users/admin/AppData/Roaming/PolarisOffice/ETemp/7788_20355032/fImage8750119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085" y="2236470"/>
            <a:ext cx="2305050" cy="33502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3"/>
          <p:cNvGraphicFramePr>
            <a:graphicFrameLocks noGrp="1"/>
          </p:cNvGraphicFramePr>
          <p:nvPr/>
        </p:nvGraphicFramePr>
        <p:xfrm>
          <a:off x="92075" y="89535"/>
          <a:ext cx="11993245" cy="664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화면 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dv-206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</a:t>
                      </a:r>
                      <a:r>
                        <a:rPr lang="ko-KR" altLang="en-US" sz="1000" i="0" kern="1200">
                          <a:solidFill>
                            <a:srgbClr val="000000"/>
                          </a:solidFill>
                        </a:rPr>
                        <a:t>면</a:t>
                      </a: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채팅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요구사항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dv-req-206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스터디장과 신청자의 소통이 가능하다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김도연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670">
                <a:tc gridSpan="4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위치는 홈페이지 내 우하단, 스터디장과 신청자의 소통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11" descr="C:/Users/admin/AppData/Roaming/PolarisOffice/ETemp/7788_20355032/fImage447301285724.jpe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6620" y="2610485"/>
            <a:ext cx="2478405" cy="3992245"/>
          </a:xfrm>
          <a:prstGeom prst="rect">
            <a:avLst/>
          </a:prstGeom>
          <a:noFill/>
        </p:spPr>
      </p:pic>
      <p:pic>
        <p:nvPicPr>
          <p:cNvPr id="7" name="그림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05" y="675005"/>
            <a:ext cx="8261350" cy="1254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3"/>
          <p:cNvGraphicFramePr>
            <a:graphicFrameLocks noGrp="1"/>
          </p:cNvGraphicFramePr>
          <p:nvPr/>
        </p:nvGraphicFramePr>
        <p:xfrm>
          <a:off x="92075" y="89535"/>
          <a:ext cx="11993245" cy="664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화면 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dv-207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</a:t>
                      </a:r>
                      <a:r>
                        <a:rPr lang="ko-KR" altLang="en-US" sz="1000" i="0" kern="1200">
                          <a:solidFill>
                            <a:srgbClr val="000000"/>
                          </a:solidFill>
                        </a:rPr>
                        <a:t>면</a:t>
                      </a: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스터디 그룹내 신청자 회원정보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요구사항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dv-req-207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스터디팀장은 스터디에 가입된 회원의 정보를 확인할 수 있다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김도연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670">
                <a:tc gridSpan="4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각 스터디의 팀장이 신청자 정보 확인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12" descr="C:/Users/admin/AppData/Roaming/PolarisOffice/ETemp/10820_20764968/fImage130221421478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4785" y="2418080"/>
            <a:ext cx="2594610" cy="3259455"/>
          </a:xfrm>
          <a:prstGeom prst="rect">
            <a:avLst/>
          </a:prstGeom>
          <a:noFill/>
        </p:spPr>
      </p:pic>
      <p:pic>
        <p:nvPicPr>
          <p:cNvPr id="7" name="그림 8" descr="C:/Users/admin/AppData/Roaming/PolarisOffice/ETemp/10820_20764968/fImage665871001478.jpe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05" y="675005"/>
            <a:ext cx="8261350" cy="1254125"/>
          </a:xfrm>
          <a:prstGeom prst="rect">
            <a:avLst/>
          </a:prstGeom>
          <a:noFill/>
        </p:spPr>
      </p:pic>
      <p:pic>
        <p:nvPicPr>
          <p:cNvPr id="8" name="그림 14" descr="C:/Users/admin/AppData/Roaming/PolarisOffice/ETemp/10820_20764968/fImage126391069358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5620" y="2418080"/>
            <a:ext cx="2408555" cy="310959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3"/>
          <p:cNvGraphicFramePr>
            <a:graphicFrameLocks noGrp="1"/>
          </p:cNvGraphicFramePr>
          <p:nvPr/>
        </p:nvGraphicFramePr>
        <p:xfrm>
          <a:off x="92075" y="89535"/>
          <a:ext cx="11993245" cy="664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화면 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dv-208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</a:t>
                      </a:r>
                      <a:r>
                        <a:rPr lang="ko-KR" altLang="en-US" sz="1000" i="0" kern="1200">
                          <a:solidFill>
                            <a:srgbClr val="000000"/>
                          </a:solidFill>
                        </a:rPr>
                        <a:t>면</a:t>
                      </a: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가입된 스터디의 스터디 팀장 정보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요구사항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dv-req-208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스터디원은 가입된 스터디의 팀장의 정보를 확인할 수 있다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김도연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670">
                <a:tc gridSpan="4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스터디원은 스터디장의 정보를 확인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14" descr="C:/Users/admin/AppData/Roaming/PolarisOffice/ETemp/10820_20764968/fImage157671449358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1455" y="2228215"/>
            <a:ext cx="2810510" cy="3599180"/>
          </a:xfrm>
          <a:prstGeom prst="rect">
            <a:avLst/>
          </a:prstGeom>
          <a:noFill/>
        </p:spPr>
      </p:pic>
      <p:pic>
        <p:nvPicPr>
          <p:cNvPr id="7" name="그림 12" descr="C:/Users/admin/AppData/Roaming/PolarisOffice/ETemp/10820_20764968/fImage665871046962.jpe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05" y="675005"/>
            <a:ext cx="8261350" cy="1254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3"/>
          <p:cNvGraphicFramePr>
            <a:graphicFrameLocks noGrp="1"/>
          </p:cNvGraphicFramePr>
          <p:nvPr/>
        </p:nvGraphicFramePr>
        <p:xfrm>
          <a:off x="92075" y="89535"/>
          <a:ext cx="11993245" cy="664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화면 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dv-209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</a:t>
                      </a:r>
                      <a:r>
                        <a:rPr lang="ko-KR" altLang="en-US" sz="1000" i="0" kern="1200">
                          <a:solidFill>
                            <a:srgbClr val="000000"/>
                          </a:solidFill>
                        </a:rPr>
                        <a:t>면</a:t>
                      </a: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스터디 등록 글쓰기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요구사항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dv-req-209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스터디 등록을 위해서 글을 쓰는 폼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김도연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670">
                <a:tc gridSpan="4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1. 지역선택으로 지역을 설정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2. 스터디명(제목) 입력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3. 언어와 난이도를 체크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4. 내용을 입력 후 등록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15" descr="C:/Users/admin/AppData/Roaming/PolarisOffice/ETemp/10820_20764968/fImage634051456962.jpe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5580" y="1994535"/>
            <a:ext cx="5875655" cy="4685665"/>
          </a:xfrm>
          <a:prstGeom prst="rect">
            <a:avLst/>
          </a:prstGeom>
          <a:noFill/>
        </p:spPr>
      </p:pic>
      <p:pic>
        <p:nvPicPr>
          <p:cNvPr id="7" name="그림 13" descr="C:/Users/admin/AppData/Roaming/PolarisOffice/ETemp/10820_20764968/fImage665871054464.jpe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05" y="675005"/>
            <a:ext cx="8261350" cy="1254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414775"/>
              </p:ext>
            </p:extLst>
          </p:nvPr>
        </p:nvGraphicFramePr>
        <p:xfrm>
          <a:off x="92075" y="89535"/>
          <a:ext cx="11993245" cy="66465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8445"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화면 ID</a:t>
                      </a:r>
                      <a:endParaRPr lang="ko-KR" altLang="en-US" sz="1000" kern="120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D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v</a:t>
                      </a:r>
                      <a:r>
                        <a:rPr sz="1000" kern="1200" dirty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-30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1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화</a:t>
                      </a:r>
                      <a:r>
                        <a:rPr sz="1000" i="0" kern="120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면</a:t>
                      </a:r>
                      <a:r>
                        <a:rPr sz="1000" kern="120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 명</a:t>
                      </a:r>
                      <a:endParaRPr lang="ko-KR" altLang="en-US" sz="1000" kern="120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멘토/멘티 메인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요구사항ID</a:t>
                      </a:r>
                      <a:endParaRPr lang="ko-KR" altLang="en-US" sz="1000" kern="120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Dv-req-301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개요</a:t>
                      </a:r>
                      <a:endParaRPr lang="ko-KR" altLang="en-US" sz="1000" kern="120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멘토,멘티를 찾거나 등록한다.</a:t>
                      </a:r>
                      <a:endParaRPr lang="ko-KR" altLang="en-US" sz="1000" kern="120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사용자</a:t>
                      </a:r>
                      <a:endParaRPr lang="ko-KR" altLang="en-US" sz="1000" kern="120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사이트 이용자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개발자</a:t>
                      </a:r>
                      <a:endParaRPr lang="ko-KR" altLang="en-US" sz="1000" kern="120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김바울</a:t>
                      </a:r>
                      <a:endParaRPr lang="ko-KR" altLang="en-US" sz="1000" kern="120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670">
                <a:tc gridSpan="4"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*</a:t>
                      </a:r>
                      <a:r>
                        <a:rPr sz="1000" kern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화면설명</a:t>
                      </a: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1. 풀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다운을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이용하여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프로그래밍언어를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선택한다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2.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버튼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클릭시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프로그래밍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언어와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맞는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멘토를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조회한다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3.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4.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5.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6.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*</a:t>
                      </a:r>
                      <a:r>
                        <a:rPr sz="1000" kern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특이사항</a:t>
                      </a: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특정</a:t>
                      </a:r>
                      <a:r>
                        <a:rPr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레벨</a:t>
                      </a:r>
                      <a:r>
                        <a:rPr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이상</a:t>
                      </a:r>
                      <a:r>
                        <a:rPr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우측</a:t>
                      </a:r>
                      <a:r>
                        <a:rPr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하단에</a:t>
                      </a:r>
                      <a:r>
                        <a:rPr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멘토</a:t>
                      </a:r>
                      <a:r>
                        <a:rPr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등록</a:t>
                      </a:r>
                      <a:r>
                        <a:rPr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버튼</a:t>
                      </a:r>
                      <a:r>
                        <a:rPr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추가</a:t>
                      </a:r>
                      <a:r>
                        <a:rPr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!</a:t>
                      </a: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" descr="C:/Users/admin/AppData/Roaming/PolarisOffice/ETemp/1624_9808832/fImage1286861614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" y="643890"/>
            <a:ext cx="8498840" cy="58801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700750"/>
              </p:ext>
            </p:extLst>
          </p:nvPr>
        </p:nvGraphicFramePr>
        <p:xfrm>
          <a:off x="92075" y="89535"/>
          <a:ext cx="11993245" cy="66465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8445"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화면 ID</a:t>
                      </a:r>
                      <a:endParaRPr lang="ko-KR" altLang="en-US" sz="1000" kern="120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D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v</a:t>
                      </a:r>
                      <a:r>
                        <a:rPr sz="1000" kern="1200" dirty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-30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2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 err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화</a:t>
                      </a:r>
                      <a:r>
                        <a:rPr sz="1000" i="0" kern="1200" dirty="0" err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면</a:t>
                      </a:r>
                      <a:r>
                        <a:rPr sz="1000" kern="1200" dirty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 명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멘토링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리스트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 err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요구사항ID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Dv-req-302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 err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원하는</a:t>
                      </a:r>
                      <a:r>
                        <a:rPr sz="1000" kern="1200" dirty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멘토를</a:t>
                      </a:r>
                      <a:r>
                        <a:rPr sz="1000" kern="1200" dirty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리스트에서</a:t>
                      </a:r>
                      <a:r>
                        <a:rPr sz="1000" kern="1200" dirty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찾는다</a:t>
                      </a:r>
                      <a:r>
                        <a:rPr sz="1000" kern="1200" dirty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.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 err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사용자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사이트 이용자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개발자</a:t>
                      </a:r>
                      <a:endParaRPr lang="ko-KR" altLang="en-US" sz="1000" kern="120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김바울</a:t>
                      </a:r>
                      <a:endParaRPr lang="ko-KR" altLang="en-US" sz="1000" kern="120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670">
                <a:tc gridSpan="4"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*</a:t>
                      </a:r>
                      <a:r>
                        <a:rPr sz="1000" kern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화면설명</a:t>
                      </a: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1. 풀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다운을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이용하여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프로그래밍언어를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선택한다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2.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검색시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멘토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이름을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찾아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조회한다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3.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멘토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마우스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클릭스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상세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화면을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출력한다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4. 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5.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6.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*</a:t>
                      </a:r>
                      <a:r>
                        <a:rPr sz="1000" kern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특이사항</a:t>
                      </a: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" descr="C:/Users/admin/AppData/Roaming/PolarisOffice/ETemp/1624_9808832/fImage353772328467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" y="655955"/>
            <a:ext cx="8509635" cy="52451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020361"/>
              </p:ext>
            </p:extLst>
          </p:nvPr>
        </p:nvGraphicFramePr>
        <p:xfrm>
          <a:off x="92075" y="89535"/>
          <a:ext cx="11993245" cy="66465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8445"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화면 ID</a:t>
                      </a:r>
                      <a:endParaRPr lang="ko-KR" altLang="en-US" sz="1000" kern="120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D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v</a:t>
                      </a:r>
                      <a:r>
                        <a:rPr sz="1000" kern="1200" dirty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-30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3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 err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화</a:t>
                      </a:r>
                      <a:r>
                        <a:rPr sz="1000" i="0" kern="1200" dirty="0" err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면</a:t>
                      </a:r>
                      <a:r>
                        <a:rPr sz="1000" kern="1200" dirty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 명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멘토링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신청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팝업창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 err="1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요구사항ID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Dv-req-303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개요</a:t>
                      </a:r>
                      <a:endParaRPr lang="ko-KR" altLang="en-US" sz="1000" kern="120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멘토를 조회하고 멘토링 신청한다.</a:t>
                      </a:r>
                      <a:endParaRPr lang="ko-KR" altLang="en-US" sz="1000" kern="120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사용자</a:t>
                      </a:r>
                      <a:endParaRPr lang="ko-KR" altLang="en-US" sz="1000" kern="120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사이트 이용자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개발자</a:t>
                      </a:r>
                      <a:endParaRPr lang="ko-KR" altLang="en-US" sz="1000" kern="120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>
                          <a:solidFill>
                            <a:srgbClr val="000000"/>
                          </a:solidFill>
                          <a:latin typeface="맑은 고딕" charset="0"/>
                          <a:ea typeface="맑은 고딕" charset="0"/>
                        </a:rPr>
                        <a:t>김바울</a:t>
                      </a:r>
                      <a:endParaRPr lang="ko-KR" altLang="en-US" sz="1000" kern="120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670">
                <a:tc gridSpan="4"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rgbClr val="000000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*</a:t>
                      </a:r>
                      <a:r>
                        <a:rPr sz="1000" kern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화면설명</a:t>
                      </a: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1.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체크박스를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클릭하고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기간을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정한다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2. 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멘토링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신청박스를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클릭시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신청이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완료된다</a:t>
                      </a: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3. 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4. 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5.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6.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*</a:t>
                      </a:r>
                      <a:r>
                        <a:rPr sz="1000" kern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특이사항</a:t>
                      </a: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sz="1000" kern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일반</a:t>
                      </a:r>
                      <a:r>
                        <a:rPr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페이지가</a:t>
                      </a:r>
                      <a:r>
                        <a:rPr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아닌</a:t>
                      </a:r>
                      <a:r>
                        <a:rPr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1000" kern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팝업창</a:t>
                      </a:r>
                      <a:r>
                        <a:rPr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맑은 고딕" charset="0"/>
                          <a:ea typeface="맑은 고딕" charset="0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" descr="C:/Users/admin/AppData/Roaming/PolarisOffice/ETemp/1624_9808832/fImage233663036334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1925" y="697230"/>
            <a:ext cx="6020435" cy="530161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974658"/>
              </p:ext>
            </p:extLst>
          </p:nvPr>
        </p:nvGraphicFramePr>
        <p:xfrm>
          <a:off x="92075" y="89535"/>
          <a:ext cx="11993245" cy="66465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8445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화면 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 dirty="0" err="1">
                          <a:solidFill>
                            <a:srgbClr val="000000"/>
                          </a:solidFill>
                        </a:rPr>
                        <a:t>D</a:t>
                      </a:r>
                      <a:r>
                        <a:rPr lang="en-US" altLang="ko-KR" sz="1000" kern="1200" dirty="0">
                          <a:solidFill>
                            <a:srgbClr val="000000"/>
                          </a:solidFill>
                        </a:rPr>
                        <a:t>v</a:t>
                      </a: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</a:rPr>
                        <a:t>-30</a:t>
                      </a:r>
                      <a:r>
                        <a:rPr lang="en-US" altLang="ko-KR" sz="1000" kern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</a:rPr>
                        <a:t>화</a:t>
                      </a:r>
                      <a:r>
                        <a:rPr lang="ko-KR" altLang="en-US" sz="1000" i="0" kern="1200" dirty="0">
                          <a:solidFill>
                            <a:srgbClr val="000000"/>
                          </a:solidFill>
                        </a:rPr>
                        <a:t>면</a:t>
                      </a: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</a:rPr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결제페이지UI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</a:rPr>
                        <a:t>요구사항</a:t>
                      </a:r>
                      <a:r>
                        <a:rPr lang="en-US" altLang="ko-KR" sz="1000" kern="1200" dirty="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rgbClr val="000000"/>
                          </a:solidFill>
                        </a:rPr>
                        <a:t>Dv-req-304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결제페이지를 보여준다.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</a:rPr>
                        <a:t>사이트 이용자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김바울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670">
                <a:tc gridSpan="4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ko-KR" sz="1000" kern="1200" dirty="0">
                          <a:solidFill>
                            <a:schemeClr val="tx1"/>
                          </a:solidFill>
                        </a:rPr>
                        <a:t> 원하는 금액을 클릭한다.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ko-KR" altLang="ko-KR" sz="1000" kern="1200" dirty="0">
                          <a:solidFill>
                            <a:schemeClr val="tx1"/>
                          </a:solidFill>
                        </a:rPr>
                        <a:t> 결제수단을 선택하고 결제 방식을 고른다.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ko-KR" altLang="ko-KR" sz="1000" kern="1200" dirty="0">
                          <a:solidFill>
                            <a:schemeClr val="tx1"/>
                          </a:solidFill>
                        </a:rPr>
                        <a:t> 이용 및 주의사항을 읽고 체크를 할 수 있다.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4.</a:t>
                      </a:r>
                      <a:r>
                        <a:rPr lang="ko-KR" altLang="ko-KR" sz="1000" kern="1200" dirty="0">
                          <a:solidFill>
                            <a:schemeClr val="tx1"/>
                          </a:solidFill>
                        </a:rPr>
                        <a:t> 결제하기 버튼을 이용하여 최종적으로 </a:t>
                      </a:r>
                      <a:r>
                        <a:rPr lang="ko-KR" altLang="ko-KR" sz="1000" kern="1200" dirty="0" err="1">
                          <a:solidFill>
                            <a:schemeClr val="tx1"/>
                          </a:solidFill>
                        </a:rPr>
                        <a:t>결제할수있다</a:t>
                      </a:r>
                      <a:r>
                        <a:rPr lang="ko-KR" altLang="ko-KR" sz="1000" kern="12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5.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6.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" y="615950"/>
            <a:ext cx="6921500" cy="42983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144790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2075" y="89535"/>
          <a:ext cx="11993245" cy="66465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8445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화면 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DV-305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</a:t>
                      </a:r>
                      <a:r>
                        <a:rPr lang="ko-KR" altLang="en-US" sz="1000" i="0" kern="1200">
                          <a:solidFill>
                            <a:srgbClr val="000000"/>
                          </a:solidFill>
                        </a:rPr>
                        <a:t>면</a:t>
                      </a: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멘티리스트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요구사항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멘토가 멘티리스트를 보고 멘티를 고를 수 있다.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일반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김바울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670">
                <a:tc gridSpan="4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ko-KR" sz="1000" kern="1200">
                          <a:solidFill>
                            <a:schemeClr val="tx1"/>
                          </a:solidFill>
                        </a:rPr>
                        <a:t> 멘토를 신청한 멘티를 보여준다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ko-KR" altLang="ko-KR" sz="1000" kern="1200">
                          <a:solidFill>
                            <a:schemeClr val="tx1"/>
                          </a:solidFill>
                        </a:rPr>
                        <a:t> 체크박스를 이용해 수락하거나 거절한다.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ko-KR" altLang="ko-KR" sz="1000" kern="12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4.</a:t>
                      </a:r>
                      <a:r>
                        <a:rPr lang="ko-KR" altLang="ko-KR" sz="1000" kern="12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5.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6.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1" descr="C:/Users/admin/AppData/Roaming/PolarisOffice/ETemp/3156_9925640/fImage25568944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" y="639445"/>
            <a:ext cx="8061325" cy="48336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155913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20761"/>
              </p:ext>
            </p:extLst>
          </p:nvPr>
        </p:nvGraphicFramePr>
        <p:xfrm>
          <a:off x="92075" y="89535"/>
          <a:ext cx="11993245" cy="664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화면 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</a:rPr>
                        <a:t>DV-401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</a:rPr>
                        <a:t>화</a:t>
                      </a:r>
                      <a:r>
                        <a:rPr lang="ko-KR" altLang="en-US" sz="1000" i="0" kern="1200" dirty="0">
                          <a:solidFill>
                            <a:srgbClr val="000000"/>
                          </a:solidFill>
                        </a:rPr>
                        <a:t>면</a:t>
                      </a: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</a:rPr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게시글 리스트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</a:rPr>
                        <a:t>요구사항</a:t>
                      </a:r>
                      <a:r>
                        <a:rPr lang="en-US" altLang="ko-KR" sz="1000" kern="1200" dirty="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rgbClr val="000000"/>
                          </a:solidFill>
                        </a:rPr>
                        <a:t>Dv-req-401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각종 게시판 선택시 게시글의 리스트를 출력해주는 화면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</a:rPr>
                        <a:t>사이트 이용자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박상민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670">
                <a:tc gridSpan="4"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게시글의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말머리를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선택하여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상세검색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검색할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키워드를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입력하여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검색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게시글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리스트를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출력하고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글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선택시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상세보기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게시글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등록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게시글이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일정수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이상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넘어가면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페이징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처리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2" descr="/temp/fImage95524377588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30" y="735330"/>
            <a:ext cx="8361045" cy="59201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256356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466784"/>
              </p:ext>
            </p:extLst>
          </p:nvPr>
        </p:nvGraphicFramePr>
        <p:xfrm>
          <a:off x="92075" y="89535"/>
          <a:ext cx="11993245" cy="66332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5110"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화면 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</a:rPr>
                        <a:t>DV-402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</a:rPr>
                        <a:t>화</a:t>
                      </a:r>
                      <a:r>
                        <a:rPr lang="ko-KR" altLang="en-US" sz="1000" i="0" kern="1200" dirty="0">
                          <a:solidFill>
                            <a:srgbClr val="000000"/>
                          </a:solidFill>
                        </a:rPr>
                        <a:t>면</a:t>
                      </a: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</a:rPr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게시글 상세보기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</a:rPr>
                        <a:t>요구사항</a:t>
                      </a:r>
                      <a:r>
                        <a:rPr lang="en-US" altLang="ko-KR" sz="1000" kern="1200" dirty="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rgbClr val="000000"/>
                          </a:solidFill>
                        </a:rPr>
                        <a:t>Dv-req-402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게시글 리스트에서 한건의 게시글을 선택시 출력해주는 화면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</a:rPr>
                        <a:t>사이트 이용자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박상민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670">
                <a:tc gridSpan="4"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해당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게시글에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대한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댓글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및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이미지를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등록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이전글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다음글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목록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수정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버튼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- </a:t>
                      </a:r>
                      <a:r>
                        <a:rPr lang="ko-KR" altLang="en-US" sz="1000" kern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이전글</a:t>
                      </a:r>
                      <a:r>
                        <a:rPr lang="ko-KR" altLang="en-US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또는 </a:t>
                      </a:r>
                      <a:r>
                        <a:rPr lang="ko-KR" altLang="en-US" sz="1000" kern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다음글이</a:t>
                      </a:r>
                      <a:r>
                        <a:rPr lang="ko-KR" altLang="en-US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000" kern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없는경우</a:t>
                      </a:r>
                      <a:r>
                        <a:rPr lang="ko-KR" altLang="en-US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해당버튼은 </a:t>
                      </a:r>
                    </a:p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   출력해주지 않음</a:t>
                      </a: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- 수정버튼은 해당 게시글의 작성자에게만 출력</a:t>
                      </a:r>
                    </a:p>
                  </a:txBody>
                  <a:tcPr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그림 3" descr="/temp/fImage1708221104850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90" y="661670"/>
            <a:ext cx="8399145" cy="59664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959049"/>
              </p:ext>
            </p:extLst>
          </p:nvPr>
        </p:nvGraphicFramePr>
        <p:xfrm>
          <a:off x="92075" y="89535"/>
          <a:ext cx="11993245" cy="664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화면 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</a:rPr>
                        <a:t>DV-403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</a:rPr>
                        <a:t>화</a:t>
                      </a:r>
                      <a:r>
                        <a:rPr lang="ko-KR" altLang="en-US" sz="1000" i="0" kern="1200" dirty="0">
                          <a:solidFill>
                            <a:srgbClr val="000000"/>
                          </a:solidFill>
                        </a:rPr>
                        <a:t>면</a:t>
                      </a: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</a:rPr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게시글 등록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</a:rPr>
                        <a:t>요구사항</a:t>
                      </a:r>
                      <a:r>
                        <a:rPr lang="en-US" altLang="ko-KR" sz="1000" kern="1200" dirty="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rgbClr val="000000"/>
                          </a:solidFill>
                        </a:rPr>
                        <a:t>Dv-req-403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게시글을 등록할 때 출력되는 화면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</a:rPr>
                        <a:t>사이트 이용자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박상민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670">
                <a:tc gridSpan="4"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말머리의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키워드를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선택하여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등록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파일을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등록하고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등록하려는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파일명을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출력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- 말머리 선택은 필수가 아님</a:t>
                      </a:r>
                    </a:p>
                  </a:txBody>
                  <a:tcPr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4" descr="/temp/fImage89214111775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55" y="671830"/>
            <a:ext cx="8161654" cy="58934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761717"/>
              </p:ext>
            </p:extLst>
          </p:nvPr>
        </p:nvGraphicFramePr>
        <p:xfrm>
          <a:off x="92075" y="89535"/>
          <a:ext cx="11993245" cy="6670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화면 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DV-404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</a:t>
                      </a:r>
                      <a:r>
                        <a:rPr lang="ko-KR" altLang="en-US" sz="1000" i="0" kern="1200">
                          <a:solidFill>
                            <a:srgbClr val="000000"/>
                          </a:solidFill>
                        </a:rPr>
                        <a:t>면</a:t>
                      </a: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게시글 수정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요구사항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rgbClr val="000000"/>
                          </a:solidFill>
                        </a:rPr>
                        <a:t>Dv-req-404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</a:rPr>
                        <a:t>등록된 게시글을 수정할 때 출력되는 화면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</a:rPr>
                        <a:t>사이트 이용자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박상민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670">
                <a:tc gridSpan="4"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사진이나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동영상을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첨부여서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등록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완료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</a:rPr>
                        <a:t>취소버튼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indent="0" defTabSz="508000" latinLnBrk="1">
                        <a:buFontTx/>
                        <a:buNone/>
                      </a:pPr>
                      <a:r>
                        <a:rPr lang="en-US" altLang="ko-KR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5" descr="/temp/fImage1023791126700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60" y="672465"/>
            <a:ext cx="8410575" cy="59131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3"/>
          <p:cNvGraphicFramePr>
            <a:graphicFrameLocks noGrp="1"/>
          </p:cNvGraphicFramePr>
          <p:nvPr/>
        </p:nvGraphicFramePr>
        <p:xfrm>
          <a:off x="92075" y="90805"/>
          <a:ext cx="11993245" cy="66484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화면 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dv-501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</a:t>
                      </a:r>
                      <a:r>
                        <a:rPr lang="ko-KR" altLang="en-US" sz="1000" i="0" kern="1200">
                          <a:solidFill>
                            <a:srgbClr val="000000"/>
                          </a:solidFill>
                        </a:rPr>
                        <a:t>면</a:t>
                      </a: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자유게시판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요구사항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dv-req-501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자유게시판의 목록을 볼 수 있다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이은우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670">
                <a:tc gridSpan="4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자유게시판 조회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그림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05" y="675005"/>
            <a:ext cx="8261350" cy="1254125"/>
          </a:xfrm>
          <a:prstGeom prst="rect">
            <a:avLst/>
          </a:prstGeom>
          <a:noFill/>
        </p:spPr>
      </p:pic>
      <p:pic>
        <p:nvPicPr>
          <p:cNvPr id="8" name="그림 6" descr="C:/Users/admin/AppData/Roaming/PolarisOffice/ETemp/11112_18066016/fImage190421034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50" y="2263140"/>
            <a:ext cx="6953250" cy="30575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3"/>
          <p:cNvGraphicFramePr>
            <a:graphicFrameLocks noGrp="1"/>
          </p:cNvGraphicFramePr>
          <p:nvPr/>
        </p:nvGraphicFramePr>
        <p:xfrm>
          <a:off x="92075" y="89535"/>
          <a:ext cx="11993245" cy="6629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화면 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dv-502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</a:t>
                      </a:r>
                      <a:r>
                        <a:rPr lang="ko-KR" altLang="en-US" sz="1000" i="0" kern="1200">
                          <a:solidFill>
                            <a:srgbClr val="000000"/>
                          </a:solidFill>
                        </a:rPr>
                        <a:t>면</a:t>
                      </a: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자유게시판 상세페이지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요구사항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dv-req-502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자유게시판의 내용을 확인 할 수 있다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이은우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7430">
                <a:tc gridSpan="4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1. 자유게시판 내용 확인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2. 댓글기능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3. 댓글의 대댓글 기능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그림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05" y="675005"/>
            <a:ext cx="8261350" cy="1254125"/>
          </a:xfrm>
          <a:prstGeom prst="rect">
            <a:avLst/>
          </a:prstGeom>
          <a:noFill/>
        </p:spPr>
      </p:pic>
      <p:pic>
        <p:nvPicPr>
          <p:cNvPr id="8" name="그림 3" descr="C:/Users/admin/AppData/Roaming/PolarisOffice/ETemp/11112_18066016/fImage264901008467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810" y="2145030"/>
            <a:ext cx="7719060" cy="38576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3"/>
          <p:cNvGraphicFramePr>
            <a:graphicFrameLocks noGrp="1"/>
          </p:cNvGraphicFramePr>
          <p:nvPr/>
        </p:nvGraphicFramePr>
        <p:xfrm>
          <a:off x="92075" y="89535"/>
          <a:ext cx="11993245" cy="664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화면 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dv-503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화</a:t>
                      </a:r>
                      <a:r>
                        <a:rPr lang="ko-KR" altLang="en-US" sz="1000" i="0" kern="1200">
                          <a:solidFill>
                            <a:srgbClr val="000000"/>
                          </a:solidFill>
                        </a:rPr>
                        <a:t>면</a:t>
                      </a: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자유게시판 글 등록 폼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요구사항</a:t>
                      </a:r>
                      <a:r>
                        <a:rPr lang="en-US" altLang="ko-KR" sz="1000" kern="120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dv-req-503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자유게시판의 글을 등록 한다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ko-KR" altLang="en-US" sz="1000" kern="1200">
                          <a:solidFill>
                            <a:srgbClr val="000000"/>
                          </a:solidFill>
                        </a:rPr>
                        <a:t>이은우</a:t>
                      </a: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670">
                <a:tc gridSpan="4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kern="12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</a:rPr>
                        <a:t>자유게시판의 글을 등록한다.</a:t>
                      </a:r>
                      <a:endParaRPr lang="ko-KR" altLang="en-US" sz="1000" kern="1200">
                        <a:solidFill>
                          <a:schemeClr val="tx1"/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kern="12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그림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05" y="675005"/>
            <a:ext cx="8261350" cy="1254125"/>
          </a:xfrm>
          <a:prstGeom prst="rect">
            <a:avLst/>
          </a:prstGeom>
          <a:noFill/>
        </p:spPr>
      </p:pic>
      <p:pic>
        <p:nvPicPr>
          <p:cNvPr id="8" name="그림 5" descr="C:/Users/admin/AppData/Roaming/PolarisOffice/ETemp/11112_18066016/fImage573221026334.jpe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30" y="2088515"/>
            <a:ext cx="5473700" cy="433768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</TotalTime>
  <Words>3060</Words>
  <Application>Microsoft Office PowerPoint</Application>
  <PresentationFormat>와이드스크린</PresentationFormat>
  <Paragraphs>1527</Paragraphs>
  <Slides>42</Slides>
  <Notes>42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4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ㅇㄹㄴㅇㄹ</dc:title>
  <dc:creator>ByungHo</dc:creator>
  <cp:lastModifiedBy>정우 서</cp:lastModifiedBy>
  <cp:revision>6</cp:revision>
  <dcterms:created xsi:type="dcterms:W3CDTF">2022-03-17T06:40:34Z</dcterms:created>
  <dcterms:modified xsi:type="dcterms:W3CDTF">2025-12-15T08:30:01Z</dcterms:modified>
</cp:coreProperties>
</file>